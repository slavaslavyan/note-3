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20"/>
  </p:notesMasterIdLst>
  <p:handoutMasterIdLst>
    <p:handoutMasterId r:id="rId21"/>
  </p:handoutMasterIdLst>
  <p:sldIdLst>
    <p:sldId id="259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2" r:id="rId15"/>
    <p:sldId id="273" r:id="rId16"/>
    <p:sldId id="274" r:id="rId17"/>
    <p:sldId id="275" r:id="rId18"/>
    <p:sldId id="277" r:id="rId19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985C"/>
    <a:srgbClr val="DDA147"/>
    <a:srgbClr val="B54C2D"/>
    <a:srgbClr val="B66952"/>
    <a:srgbClr val="B56D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>
        <p:scale>
          <a:sx n="75" d="100"/>
          <a:sy n="75" d="100"/>
        </p:scale>
        <p:origin x="7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9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 rtlCol="0"/>
        <a:lstStyle/>
        <a:p>
          <a:pPr rtl="0"/>
          <a:endParaRPr lang="en-US"/>
        </a:p>
      </dgm:t>
    </dgm:pt>
    <dgm:pt modelId="{DC13AB6D-DEA2-4CBB-AC69-1EF1A6AD1512}">
      <dgm:prSet/>
      <dgm:spPr/>
      <dgm:t>
        <a:bodyPr rtlCol="0"/>
        <a:lstStyle/>
        <a:p>
          <a:pPr rtl="0">
            <a:defRPr cap="all"/>
          </a:pPr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Планирование управления рисками </a:t>
          </a:r>
          <a:endParaRPr lang="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C752582-D9FF-4E04-A92F-827DB4BB5C48}" type="parTrans" cxnId="{4B888393-351D-4489-90C9-5A68061AB236}">
      <dgm:prSet/>
      <dgm:spPr/>
      <dgm:t>
        <a:bodyPr rtlCol="0"/>
        <a:lstStyle/>
        <a:p>
          <a:pPr rtl="0"/>
          <a:endParaRPr lang="en-US"/>
        </a:p>
      </dgm:t>
    </dgm:pt>
    <dgm:pt modelId="{9C64CC83-643C-4E12-8F97-BC19DC031190}" type="sibTrans" cxnId="{4B888393-351D-4489-90C9-5A68061AB236}">
      <dgm:prSet phldrT="01" phldr="0"/>
      <dgm:spPr/>
      <dgm:t>
        <a:bodyPr rtlCol="0"/>
        <a:lstStyle/>
        <a:p>
          <a:pPr rtl="0"/>
          <a:r>
            <a:rPr lang="ru"/>
            <a:t>01</a:t>
          </a:r>
          <a:endParaRPr lang="ru" dirty="0"/>
        </a:p>
      </dgm:t>
    </dgm:pt>
    <dgm:pt modelId="{53742231-981F-480A-940F-203EC2F7423F}">
      <dgm:prSet/>
      <dgm:spPr/>
      <dgm:t>
        <a:bodyPr rtlCol="0"/>
        <a:lstStyle/>
        <a:p>
          <a:pPr rtl="0">
            <a:defRPr cap="all"/>
          </a:pPr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Идентификация рисков</a:t>
          </a:r>
          <a:endParaRPr lang="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FC75195-FBA1-43DE-85DD-40B4B3A2F1F3}" type="parTrans" cxnId="{F226B1C2-5D99-403A-8240-EAD6BD4D8534}">
      <dgm:prSet/>
      <dgm:spPr/>
      <dgm:t>
        <a:bodyPr rtlCol="0"/>
        <a:lstStyle/>
        <a:p>
          <a:pPr rtl="0"/>
          <a:endParaRPr lang="en-US"/>
        </a:p>
      </dgm:t>
    </dgm:pt>
    <dgm:pt modelId="{EF449C32-A7AE-4099-9E9B-9E2F736A89CE}" type="sibTrans" cxnId="{F226B1C2-5D99-403A-8240-EAD6BD4D8534}">
      <dgm:prSet phldrT="02" phldr="0"/>
      <dgm:spPr/>
      <dgm:t>
        <a:bodyPr rtlCol="0"/>
        <a:lstStyle/>
        <a:p>
          <a:pPr rtl="0"/>
          <a:r>
            <a:rPr lang="ru"/>
            <a:t>02</a:t>
          </a:r>
        </a:p>
      </dgm:t>
    </dgm:pt>
    <dgm:pt modelId="{9EF41CC5-EF3B-4A6D-8229-3F1333EADFB3}">
      <dgm:prSet/>
      <dgm:spPr/>
      <dgm:t>
        <a:bodyPr rtlCol="0"/>
        <a:lstStyle/>
        <a:p>
          <a:pPr rtl="0">
            <a:defRPr cap="all"/>
          </a:pPr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Качественный анализ рисков</a:t>
          </a:r>
          <a:endParaRPr lang="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AEF1C7D-B0C5-46FA-BED3-8A54E918D3E0}" type="parTrans" cxnId="{E476EEBC-7C9F-4E07-BD58-1044B9769B64}">
      <dgm:prSet/>
      <dgm:spPr/>
      <dgm:t>
        <a:bodyPr rtlCol="0"/>
        <a:lstStyle/>
        <a:p>
          <a:pPr rtl="0"/>
          <a:endParaRPr lang="en-US"/>
        </a:p>
      </dgm:t>
    </dgm:pt>
    <dgm:pt modelId="{98E6DD7C-B953-4119-9F64-9914E467ECBF}" type="sibTrans" cxnId="{E476EEBC-7C9F-4E07-BD58-1044B9769B64}">
      <dgm:prSet phldrT="03" phldr="0"/>
      <dgm:spPr/>
      <dgm:t>
        <a:bodyPr rtlCol="0"/>
        <a:lstStyle/>
        <a:p>
          <a:pPr rtl="0"/>
          <a:r>
            <a:rPr lang="ru"/>
            <a:t>03</a:t>
          </a:r>
        </a:p>
      </dgm:t>
    </dgm:pt>
    <dgm:pt modelId="{FB87AD4A-5A08-41DC-867A-E7645A138513}">
      <dgm:prSet/>
      <dgm:spPr/>
      <dgm:t>
        <a:bodyPr rtlCol="0"/>
        <a:lstStyle/>
        <a:p>
          <a:pPr rtl="0">
            <a:defRPr cap="all"/>
          </a:pPr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Мониторинг рисков</a:t>
          </a:r>
          <a:endParaRPr lang="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E372706-330A-4147-B424-E92F23B36A15}" type="parTrans" cxnId="{A7A1DD4E-B879-44BF-812A-20B5D7C83953}">
      <dgm:prSet/>
      <dgm:spPr/>
      <dgm:t>
        <a:bodyPr/>
        <a:lstStyle/>
        <a:p>
          <a:endParaRPr lang="ru-RU"/>
        </a:p>
      </dgm:t>
    </dgm:pt>
    <dgm:pt modelId="{A15FCABC-CD43-4FF7-9B02-5532877F14C9}" type="sibTrans" cxnId="{A7A1DD4E-B879-44BF-812A-20B5D7C83953}">
      <dgm:prSet phldrT="05" phldr="0"/>
      <dgm:spPr/>
      <dgm:t>
        <a:bodyPr/>
        <a:lstStyle/>
        <a:p>
          <a:r>
            <a:rPr lang="ru-RU"/>
            <a:t>05</a:t>
          </a:r>
        </a:p>
      </dgm:t>
    </dgm:pt>
    <dgm:pt modelId="{7C0A0AFF-13AC-4CA1-872B-1A05E3197B83}">
      <dgm:prSet/>
      <dgm:spPr/>
      <dgm:t>
        <a:bodyPr rtlCol="0"/>
        <a:lstStyle/>
        <a:p>
          <a:pPr rtl="0">
            <a:defRPr cap="all"/>
          </a:pPr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Планирование реагирования на риски</a:t>
          </a:r>
          <a:endParaRPr lang="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FA80B0E-FD9F-4374-949C-A06278DC8EE3}" type="parTrans" cxnId="{60C4E40A-DA24-4FDD-8A7C-B7819AD5ABA3}">
      <dgm:prSet/>
      <dgm:spPr/>
      <dgm:t>
        <a:bodyPr/>
        <a:lstStyle/>
        <a:p>
          <a:endParaRPr lang="ru-RU"/>
        </a:p>
      </dgm:t>
    </dgm:pt>
    <dgm:pt modelId="{4917CAD9-46FB-40BE-9BDF-D1CECA239187}" type="sibTrans" cxnId="{60C4E40A-DA24-4FDD-8A7C-B7819AD5ABA3}">
      <dgm:prSet phldrT="04" phldr="0"/>
      <dgm:spPr/>
      <dgm:t>
        <a:bodyPr/>
        <a:lstStyle/>
        <a:p>
          <a:r>
            <a:rPr lang="ru-RU"/>
            <a:t>04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5" custScaleY="158164"/>
      <dgm:spPr/>
    </dgm:pt>
    <dgm:pt modelId="{BBA91679-4684-4A04-8AEB-03038C78A75C}" type="pres">
      <dgm:prSet presAssocID="{9C64CC83-643C-4E12-8F97-BC19DC031190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5">
        <dgm:presLayoutVars>
          <dgm:bulletEnabled val="1"/>
        </dgm:presLayoutVars>
      </dgm:prSet>
      <dgm:spPr/>
    </dgm:pt>
    <dgm:pt modelId="{3C27A223-AC17-40BD-B7C5-0447661C2934}" type="pres">
      <dgm:prSet presAssocID="{9C64CC83-643C-4E12-8F97-BC19DC031190}" presName="sibTrans" presStyleCnt="0"/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1" presStyleCnt="5" custScaleY="158164"/>
      <dgm:spPr/>
    </dgm:pt>
    <dgm:pt modelId="{975C752B-C37A-4BA6-A3AE-2202A141404A}" type="pres">
      <dgm:prSet presAssocID="{EF449C32-A7AE-4099-9E9B-9E2F736A89CE}" presName="sibTransNodeRect" presStyleLbl="alignNode1" presStyleIdx="1" presStyleCnt="5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1" presStyleCnt="5">
        <dgm:presLayoutVars>
          <dgm:bulletEnabled val="1"/>
        </dgm:presLayoutVars>
      </dgm:prSet>
      <dgm:spPr/>
    </dgm:pt>
    <dgm:pt modelId="{3E36C1DA-E751-469B-91D5-B7ADF3790DAB}" type="pres">
      <dgm:prSet presAssocID="{EF449C32-A7AE-4099-9E9B-9E2F736A89CE}" presName="sibTrans" presStyleCnt="0"/>
      <dgm:spPr/>
    </dgm:pt>
    <dgm:pt modelId="{19974A3A-09A4-40DE-BB0F-D9AED1ACB06E}" type="pres">
      <dgm:prSet presAssocID="{9EF41CC5-EF3B-4A6D-8229-3F1333EADFB3}" presName="compositeNode" presStyleCnt="0">
        <dgm:presLayoutVars>
          <dgm:bulletEnabled val="1"/>
        </dgm:presLayoutVars>
      </dgm:prSet>
      <dgm:spPr/>
    </dgm:pt>
    <dgm:pt modelId="{CAD62F17-E99D-4FEF-B376-961CA4CB20EB}" type="pres">
      <dgm:prSet presAssocID="{9EF41CC5-EF3B-4A6D-8229-3F1333EADFB3}" presName="bgRect" presStyleLbl="alignNode1" presStyleIdx="2" presStyleCnt="5" custScaleY="158164"/>
      <dgm:spPr/>
    </dgm:pt>
    <dgm:pt modelId="{E20811D6-E5D4-4C9E-AABF-9E0E1902CA2C}" type="pres">
      <dgm:prSet presAssocID="{98E6DD7C-B953-4119-9F64-9914E467ECBF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67D48337-9200-42EF-A956-8FC92E9B78D2}" type="pres">
      <dgm:prSet presAssocID="{9EF41CC5-EF3B-4A6D-8229-3F1333EADFB3}" presName="nodeRect" presStyleLbl="alignNode1" presStyleIdx="2" presStyleCnt="5">
        <dgm:presLayoutVars>
          <dgm:bulletEnabled val="1"/>
        </dgm:presLayoutVars>
      </dgm:prSet>
      <dgm:spPr/>
    </dgm:pt>
    <dgm:pt modelId="{BB576AFC-F154-4FE9-A488-ABFD591414DC}" type="pres">
      <dgm:prSet presAssocID="{98E6DD7C-B953-4119-9F64-9914E467ECBF}" presName="sibTrans" presStyleCnt="0"/>
      <dgm:spPr/>
    </dgm:pt>
    <dgm:pt modelId="{51ABE45E-367A-4957-BE47-1B348CC33087}" type="pres">
      <dgm:prSet presAssocID="{7C0A0AFF-13AC-4CA1-872B-1A05E3197B83}" presName="compositeNode" presStyleCnt="0">
        <dgm:presLayoutVars>
          <dgm:bulletEnabled val="1"/>
        </dgm:presLayoutVars>
      </dgm:prSet>
      <dgm:spPr/>
    </dgm:pt>
    <dgm:pt modelId="{77697B25-5BC6-4986-B16E-5D2A5EF2820C}" type="pres">
      <dgm:prSet presAssocID="{7C0A0AFF-13AC-4CA1-872B-1A05E3197B83}" presName="bgRect" presStyleLbl="alignNode1" presStyleIdx="3" presStyleCnt="5" custScaleY="158164"/>
      <dgm:spPr/>
    </dgm:pt>
    <dgm:pt modelId="{4540E9D9-4E80-4B98-A572-EE47E9F5D640}" type="pres">
      <dgm:prSet presAssocID="{4917CAD9-46FB-40BE-9BDF-D1CECA239187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A256AE50-A705-4D04-9BD9-F6DA8AFB5CDB}" type="pres">
      <dgm:prSet presAssocID="{7C0A0AFF-13AC-4CA1-872B-1A05E3197B83}" presName="nodeRect" presStyleLbl="alignNode1" presStyleIdx="3" presStyleCnt="5">
        <dgm:presLayoutVars>
          <dgm:bulletEnabled val="1"/>
        </dgm:presLayoutVars>
      </dgm:prSet>
      <dgm:spPr/>
    </dgm:pt>
    <dgm:pt modelId="{8F3F28BE-B15B-40BE-8F59-52D596DDAB7C}" type="pres">
      <dgm:prSet presAssocID="{4917CAD9-46FB-40BE-9BDF-D1CECA239187}" presName="sibTrans" presStyleCnt="0"/>
      <dgm:spPr/>
    </dgm:pt>
    <dgm:pt modelId="{88CAB162-5C50-4B1C-A8D7-BCF7838998D3}" type="pres">
      <dgm:prSet presAssocID="{FB87AD4A-5A08-41DC-867A-E7645A138513}" presName="compositeNode" presStyleCnt="0">
        <dgm:presLayoutVars>
          <dgm:bulletEnabled val="1"/>
        </dgm:presLayoutVars>
      </dgm:prSet>
      <dgm:spPr/>
    </dgm:pt>
    <dgm:pt modelId="{8EC8B9AD-B15F-46E9-9DA1-B02FD600955B}" type="pres">
      <dgm:prSet presAssocID="{FB87AD4A-5A08-41DC-867A-E7645A138513}" presName="bgRect" presStyleLbl="alignNode1" presStyleIdx="4" presStyleCnt="5" custScaleY="158164"/>
      <dgm:spPr/>
    </dgm:pt>
    <dgm:pt modelId="{ED34AB81-69C9-4992-A837-85CCD58280A9}" type="pres">
      <dgm:prSet presAssocID="{A15FCABC-CD43-4FF7-9B02-5532877F14C9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BAB87A38-642D-4259-836C-B6552CF29FF7}" type="pres">
      <dgm:prSet presAssocID="{FB87AD4A-5A08-41DC-867A-E7645A138513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3DE30903-EBDF-4AAA-AFDF-B4224B6F0E6F}" type="presOf" srcId="{7C0A0AFF-13AC-4CA1-872B-1A05E3197B83}" destId="{A256AE50-A705-4D04-9BD9-F6DA8AFB5CDB}" srcOrd="1" destOrd="0" presId="urn:microsoft.com/office/officeart/2016/7/layout/LinearBlockProcessNumbered"/>
    <dgm:cxn modelId="{60C4E40A-DA24-4FDD-8A7C-B7819AD5ABA3}" srcId="{8AA20905-3954-474B-A606-562BCA026DC1}" destId="{7C0A0AFF-13AC-4CA1-872B-1A05E3197B83}" srcOrd="3" destOrd="0" parTransId="{5FA80B0E-FD9F-4374-949C-A06278DC8EE3}" sibTransId="{4917CAD9-46FB-40BE-9BDF-D1CECA239187}"/>
    <dgm:cxn modelId="{D1E8D816-7586-4A0F-B8DA-BA1590C507EA}" type="presOf" srcId="{FB87AD4A-5A08-41DC-867A-E7645A138513}" destId="{8EC8B9AD-B15F-46E9-9DA1-B02FD600955B}" srcOrd="0" destOrd="0" presId="urn:microsoft.com/office/officeart/2016/7/layout/LinearBlockProcessNumbered"/>
    <dgm:cxn modelId="{43B61840-F115-4174-96B9-DA0C0E83489E}" type="presOf" srcId="{9EF41CC5-EF3B-4A6D-8229-3F1333EADFB3}" destId="{CAD62F17-E99D-4FEF-B376-961CA4CB20EB}" srcOrd="0" destOrd="0" presId="urn:microsoft.com/office/officeart/2016/7/layout/LinearBlockProcessNumbered"/>
    <dgm:cxn modelId="{98209162-D2D5-40D0-8976-D983158D1DF7}" type="presOf" srcId="{7C0A0AFF-13AC-4CA1-872B-1A05E3197B83}" destId="{77697B25-5BC6-4986-B16E-5D2A5EF2820C}" srcOrd="0" destOrd="0" presId="urn:microsoft.com/office/officeart/2016/7/layout/LinearBlockProcessNumbered"/>
    <dgm:cxn modelId="{A7A1DD4E-B879-44BF-812A-20B5D7C83953}" srcId="{8AA20905-3954-474B-A606-562BCA026DC1}" destId="{FB87AD4A-5A08-41DC-867A-E7645A138513}" srcOrd="4" destOrd="0" parTransId="{9E372706-330A-4147-B424-E92F23B36A15}" sibTransId="{A15FCABC-CD43-4FF7-9B02-5532877F14C9}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29280853-1A86-48A7-BA30-A3847B3BBF6D}" type="presOf" srcId="{98E6DD7C-B953-4119-9F64-9914E467ECBF}" destId="{E20811D6-E5D4-4C9E-AABF-9E0E1902CA2C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AE5DBFB6-DFAC-49AA-8814-A00B6F0815D1}" type="presOf" srcId="{FB87AD4A-5A08-41DC-867A-E7645A138513}" destId="{BAB87A38-642D-4259-836C-B6552CF29FF7}" srcOrd="1" destOrd="0" presId="urn:microsoft.com/office/officeart/2016/7/layout/LinearBlockProcessNumbered"/>
    <dgm:cxn modelId="{E476EEBC-7C9F-4E07-BD58-1044B9769B64}" srcId="{8AA20905-3954-474B-A606-562BCA026DC1}" destId="{9EF41CC5-EF3B-4A6D-8229-3F1333EADFB3}" srcOrd="2" destOrd="0" parTransId="{DAEF1C7D-B0C5-46FA-BED3-8A54E918D3E0}" sibTransId="{98E6DD7C-B953-4119-9F64-9914E467ECBF}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2A4FAFE9-8268-4E9E-BAE1-294B2E461A1A}" type="presOf" srcId="{A15FCABC-CD43-4FF7-9B02-5532877F14C9}" destId="{ED34AB81-69C9-4992-A837-85CCD58280A9}" srcOrd="0" destOrd="0" presId="urn:microsoft.com/office/officeart/2016/7/layout/LinearBlockProcessNumbered"/>
    <dgm:cxn modelId="{45AA7DF1-A8A7-487A-A7BD-542532D8F9A3}" type="presOf" srcId="{4917CAD9-46FB-40BE-9BDF-D1CECA239187}" destId="{4540E9D9-4E80-4B98-A572-EE47E9F5D640}" srcOrd="0" destOrd="0" presId="urn:microsoft.com/office/officeart/2016/7/layout/LinearBlockProcessNumbered"/>
    <dgm:cxn modelId="{7D7B6CF4-1A1D-4E61-B5FE-C95185EF2648}" type="presOf" srcId="{9EF41CC5-EF3B-4A6D-8229-3F1333EADFB3}" destId="{67D48337-9200-42EF-A956-8FC92E9B78D2}" srcOrd="1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  <dgm:cxn modelId="{F8935481-B234-48A2-8E9B-6F423817537E}" type="presParOf" srcId="{579698BD-D232-4926-8D7B-29A69B90858B}" destId="{3C27A223-AC17-40BD-B7C5-0447661C2934}" srcOrd="1" destOrd="0" presId="urn:microsoft.com/office/officeart/2016/7/layout/LinearBlockProcessNumbered"/>
    <dgm:cxn modelId="{2A71550B-14EE-4B95-A40C-E132F64E84DB}" type="presParOf" srcId="{579698BD-D232-4926-8D7B-29A69B90858B}" destId="{0864151C-845B-4A50-9755-7EE613694D81}" srcOrd="2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  <dgm:cxn modelId="{981D06A1-F8EB-4C14-9C2A-EA505D9C81FA}" type="presParOf" srcId="{579698BD-D232-4926-8D7B-29A69B90858B}" destId="{3E36C1DA-E751-469B-91D5-B7ADF3790DAB}" srcOrd="3" destOrd="0" presId="urn:microsoft.com/office/officeart/2016/7/layout/LinearBlockProcessNumbered"/>
    <dgm:cxn modelId="{D7BB022A-2504-497B-9672-D97F4CB95B15}" type="presParOf" srcId="{579698BD-D232-4926-8D7B-29A69B90858B}" destId="{19974A3A-09A4-40DE-BB0F-D9AED1ACB06E}" srcOrd="4" destOrd="0" presId="urn:microsoft.com/office/officeart/2016/7/layout/LinearBlockProcessNumbered"/>
    <dgm:cxn modelId="{A085F843-0169-43CB-B042-74EAB6E1674B}" type="presParOf" srcId="{19974A3A-09A4-40DE-BB0F-D9AED1ACB06E}" destId="{CAD62F17-E99D-4FEF-B376-961CA4CB20EB}" srcOrd="0" destOrd="0" presId="urn:microsoft.com/office/officeart/2016/7/layout/LinearBlockProcessNumbered"/>
    <dgm:cxn modelId="{A179DBCD-25F3-44B6-BAA7-26EBC7B29448}" type="presParOf" srcId="{19974A3A-09A4-40DE-BB0F-D9AED1ACB06E}" destId="{E20811D6-E5D4-4C9E-AABF-9E0E1902CA2C}" srcOrd="1" destOrd="0" presId="urn:microsoft.com/office/officeart/2016/7/layout/LinearBlockProcessNumbered"/>
    <dgm:cxn modelId="{7429BDE6-E17F-4E08-960D-D62B256C81F6}" type="presParOf" srcId="{19974A3A-09A4-40DE-BB0F-D9AED1ACB06E}" destId="{67D48337-9200-42EF-A956-8FC92E9B78D2}" srcOrd="2" destOrd="0" presId="urn:microsoft.com/office/officeart/2016/7/layout/LinearBlockProcessNumbered"/>
    <dgm:cxn modelId="{41868E72-E7AE-4B75-BED1-FD433D1F8E0A}" type="presParOf" srcId="{579698BD-D232-4926-8D7B-29A69B90858B}" destId="{BB576AFC-F154-4FE9-A488-ABFD591414DC}" srcOrd="5" destOrd="0" presId="urn:microsoft.com/office/officeart/2016/7/layout/LinearBlockProcessNumbered"/>
    <dgm:cxn modelId="{1EF28E88-2A10-4E43-BE1F-B5D9F4B2AD3F}" type="presParOf" srcId="{579698BD-D232-4926-8D7B-29A69B90858B}" destId="{51ABE45E-367A-4957-BE47-1B348CC33087}" srcOrd="6" destOrd="0" presId="urn:microsoft.com/office/officeart/2016/7/layout/LinearBlockProcessNumbered"/>
    <dgm:cxn modelId="{D3637508-FB00-4227-A549-97484C2EB455}" type="presParOf" srcId="{51ABE45E-367A-4957-BE47-1B348CC33087}" destId="{77697B25-5BC6-4986-B16E-5D2A5EF2820C}" srcOrd="0" destOrd="0" presId="urn:microsoft.com/office/officeart/2016/7/layout/LinearBlockProcessNumbered"/>
    <dgm:cxn modelId="{14DDFA82-1EBE-4095-B270-F3E1BF9BCF7A}" type="presParOf" srcId="{51ABE45E-367A-4957-BE47-1B348CC33087}" destId="{4540E9D9-4E80-4B98-A572-EE47E9F5D640}" srcOrd="1" destOrd="0" presId="urn:microsoft.com/office/officeart/2016/7/layout/LinearBlockProcessNumbered"/>
    <dgm:cxn modelId="{52E11FD8-8772-4124-9453-53186068879D}" type="presParOf" srcId="{51ABE45E-367A-4957-BE47-1B348CC33087}" destId="{A256AE50-A705-4D04-9BD9-F6DA8AFB5CDB}" srcOrd="2" destOrd="0" presId="urn:microsoft.com/office/officeart/2016/7/layout/LinearBlockProcessNumbered"/>
    <dgm:cxn modelId="{717626C7-BBD7-4726-9578-9386A1F7FD3A}" type="presParOf" srcId="{579698BD-D232-4926-8D7B-29A69B90858B}" destId="{8F3F28BE-B15B-40BE-8F59-52D596DDAB7C}" srcOrd="7" destOrd="0" presId="urn:microsoft.com/office/officeart/2016/7/layout/LinearBlockProcessNumbered"/>
    <dgm:cxn modelId="{7D48CA97-F4ED-4745-B75A-659A3CF3E013}" type="presParOf" srcId="{579698BD-D232-4926-8D7B-29A69B90858B}" destId="{88CAB162-5C50-4B1C-A8D7-BCF7838998D3}" srcOrd="8" destOrd="0" presId="urn:microsoft.com/office/officeart/2016/7/layout/LinearBlockProcessNumbered"/>
    <dgm:cxn modelId="{8CBF56C2-7701-4B1A-8E5B-19E0917E0729}" type="presParOf" srcId="{88CAB162-5C50-4B1C-A8D7-BCF7838998D3}" destId="{8EC8B9AD-B15F-46E9-9DA1-B02FD600955B}" srcOrd="0" destOrd="0" presId="urn:microsoft.com/office/officeart/2016/7/layout/LinearBlockProcessNumbered"/>
    <dgm:cxn modelId="{E282DC2B-E468-42B6-BE17-C6342DBC8C3C}" type="presParOf" srcId="{88CAB162-5C50-4B1C-A8D7-BCF7838998D3}" destId="{ED34AB81-69C9-4992-A837-85CCD58280A9}" srcOrd="1" destOrd="0" presId="urn:microsoft.com/office/officeart/2016/7/layout/LinearBlockProcessNumbered"/>
    <dgm:cxn modelId="{27C55030-4FED-48CA-83C8-DE4CB1A3106B}" type="presParOf" srcId="{88CAB162-5C50-4B1C-A8D7-BCF7838998D3}" destId="{BAB87A38-642D-4259-836C-B6552CF29FF7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6218" y="12700"/>
          <a:ext cx="1943841" cy="368934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08" tIns="0" rIns="192008" bIns="330200" numCol="1" spcCol="1270" rtlCol="0" anchor="t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Планирование управления рисками </a:t>
          </a:r>
          <a:endParaRPr lang="ru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218" y="1488440"/>
        <a:ext cx="1943841" cy="2213609"/>
      </dsp:txXfrm>
    </dsp:sp>
    <dsp:sp modelId="{BBA91679-4684-4A04-8AEB-03038C78A75C}">
      <dsp:nvSpPr>
        <dsp:cNvPr id="0" name=""/>
        <dsp:cNvSpPr/>
      </dsp:nvSpPr>
      <dsp:spPr>
        <a:xfrm>
          <a:off x="6218" y="691069"/>
          <a:ext cx="1943841" cy="933044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08" tIns="165100" rIns="192008" bIns="165100" numCol="1" spcCol="1270" rtlCol="0" anchor="ctr" anchorCtr="0">
          <a:noAutofit/>
        </a:bodyPr>
        <a:lstStyle/>
        <a:p>
          <a:pPr marL="0" lvl="0" indent="0" algn="l" defTabSz="2089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" sz="4700" kern="1200"/>
            <a:t>01</a:t>
          </a:r>
          <a:endParaRPr lang="ru" sz="4700" kern="1200" dirty="0"/>
        </a:p>
      </dsp:txBody>
      <dsp:txXfrm>
        <a:off x="6218" y="691069"/>
        <a:ext cx="1943841" cy="933044"/>
      </dsp:txXfrm>
    </dsp:sp>
    <dsp:sp modelId="{00AE7F27-0E5D-4AFB-ACD6-B5A19E79EA42}">
      <dsp:nvSpPr>
        <dsp:cNvPr id="0" name=""/>
        <dsp:cNvSpPr/>
      </dsp:nvSpPr>
      <dsp:spPr>
        <a:xfrm>
          <a:off x="2105567" y="12700"/>
          <a:ext cx="1943841" cy="368934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08" tIns="0" rIns="192008" bIns="330200" numCol="1" spcCol="1270" rtlCol="0" anchor="t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Идентификация рисков</a:t>
          </a:r>
          <a:endParaRPr lang="ru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05567" y="1488440"/>
        <a:ext cx="1943841" cy="2213609"/>
      </dsp:txXfrm>
    </dsp:sp>
    <dsp:sp modelId="{975C752B-C37A-4BA6-A3AE-2202A141404A}">
      <dsp:nvSpPr>
        <dsp:cNvPr id="0" name=""/>
        <dsp:cNvSpPr/>
      </dsp:nvSpPr>
      <dsp:spPr>
        <a:xfrm>
          <a:off x="2105567" y="691069"/>
          <a:ext cx="1943841" cy="933044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08" tIns="165100" rIns="192008" bIns="165100" numCol="1" spcCol="1270" rtlCol="0" anchor="ctr" anchorCtr="0">
          <a:noAutofit/>
        </a:bodyPr>
        <a:lstStyle/>
        <a:p>
          <a:pPr marL="0" lvl="0" indent="0" algn="l" defTabSz="2089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" sz="4700" kern="1200"/>
            <a:t>02</a:t>
          </a:r>
        </a:p>
      </dsp:txBody>
      <dsp:txXfrm>
        <a:off x="2105567" y="691069"/>
        <a:ext cx="1943841" cy="933044"/>
      </dsp:txXfrm>
    </dsp:sp>
    <dsp:sp modelId="{CAD62F17-E99D-4FEF-B376-961CA4CB20EB}">
      <dsp:nvSpPr>
        <dsp:cNvPr id="0" name=""/>
        <dsp:cNvSpPr/>
      </dsp:nvSpPr>
      <dsp:spPr>
        <a:xfrm>
          <a:off x="4204916" y="12700"/>
          <a:ext cx="1943841" cy="368934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08" tIns="0" rIns="192008" bIns="330200" numCol="1" spcCol="1270" rtlCol="0" anchor="t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Качественный анализ рисков</a:t>
          </a:r>
          <a:endParaRPr lang="ru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04916" y="1488440"/>
        <a:ext cx="1943841" cy="2213609"/>
      </dsp:txXfrm>
    </dsp:sp>
    <dsp:sp modelId="{E20811D6-E5D4-4C9E-AABF-9E0E1902CA2C}">
      <dsp:nvSpPr>
        <dsp:cNvPr id="0" name=""/>
        <dsp:cNvSpPr/>
      </dsp:nvSpPr>
      <dsp:spPr>
        <a:xfrm>
          <a:off x="4204916" y="691069"/>
          <a:ext cx="1943841" cy="933044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08" tIns="165100" rIns="192008" bIns="165100" numCol="1" spcCol="1270" rtlCol="0" anchor="ctr" anchorCtr="0">
          <a:noAutofit/>
        </a:bodyPr>
        <a:lstStyle/>
        <a:p>
          <a:pPr marL="0" lvl="0" indent="0" algn="l" defTabSz="2089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" sz="4700" kern="1200"/>
            <a:t>03</a:t>
          </a:r>
        </a:p>
      </dsp:txBody>
      <dsp:txXfrm>
        <a:off x="4204916" y="691069"/>
        <a:ext cx="1943841" cy="933044"/>
      </dsp:txXfrm>
    </dsp:sp>
    <dsp:sp modelId="{77697B25-5BC6-4986-B16E-5D2A5EF2820C}">
      <dsp:nvSpPr>
        <dsp:cNvPr id="0" name=""/>
        <dsp:cNvSpPr/>
      </dsp:nvSpPr>
      <dsp:spPr>
        <a:xfrm>
          <a:off x="6304265" y="12700"/>
          <a:ext cx="1943841" cy="368934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08" tIns="0" rIns="192008" bIns="330200" numCol="1" spcCol="1270" rtlCol="0" anchor="t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Планирование реагирования на риски</a:t>
          </a:r>
          <a:endParaRPr lang="ru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304265" y="1488440"/>
        <a:ext cx="1943841" cy="2213609"/>
      </dsp:txXfrm>
    </dsp:sp>
    <dsp:sp modelId="{4540E9D9-4E80-4B98-A572-EE47E9F5D640}">
      <dsp:nvSpPr>
        <dsp:cNvPr id="0" name=""/>
        <dsp:cNvSpPr/>
      </dsp:nvSpPr>
      <dsp:spPr>
        <a:xfrm>
          <a:off x="6304265" y="691069"/>
          <a:ext cx="1943841" cy="933044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08" tIns="165100" rIns="192008" bIns="16510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700" kern="1200"/>
            <a:t>04</a:t>
          </a:r>
        </a:p>
      </dsp:txBody>
      <dsp:txXfrm>
        <a:off x="6304265" y="691069"/>
        <a:ext cx="1943841" cy="933044"/>
      </dsp:txXfrm>
    </dsp:sp>
    <dsp:sp modelId="{8EC8B9AD-B15F-46E9-9DA1-B02FD600955B}">
      <dsp:nvSpPr>
        <dsp:cNvPr id="0" name=""/>
        <dsp:cNvSpPr/>
      </dsp:nvSpPr>
      <dsp:spPr>
        <a:xfrm>
          <a:off x="8403614" y="12700"/>
          <a:ext cx="1943841" cy="368934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08" tIns="0" rIns="192008" bIns="330200" numCol="1" spcCol="1270" rtlCol="0" anchor="t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Мониторинг рисков</a:t>
          </a:r>
          <a:endParaRPr lang="ru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403614" y="1488440"/>
        <a:ext cx="1943841" cy="2213609"/>
      </dsp:txXfrm>
    </dsp:sp>
    <dsp:sp modelId="{ED34AB81-69C9-4992-A837-85CCD58280A9}">
      <dsp:nvSpPr>
        <dsp:cNvPr id="0" name=""/>
        <dsp:cNvSpPr/>
      </dsp:nvSpPr>
      <dsp:spPr>
        <a:xfrm>
          <a:off x="8403614" y="691069"/>
          <a:ext cx="1943841" cy="933044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08" tIns="165100" rIns="192008" bIns="16510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700" kern="1200"/>
            <a:t>05</a:t>
          </a:r>
        </a:p>
      </dsp:txBody>
      <dsp:txXfrm>
        <a:off x="8403614" y="691069"/>
        <a:ext cx="1943841" cy="9330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 rtlCol="0"/>
            <a:lstStyle/>
            <a:p>
              <a:pPr rtl="0"/>
              <a:r>
                <a:t>01</a:t>
              </a:r>
            </a:p>
          </dgm:t>
        </dgm:pt>
        <dgm:pt modelId="201" type="sibTrans" cxnId="5">
          <dgm:prSet phldrT="2"/>
          <dgm:t>
            <a:bodyPr rtlCol="0"/>
            <a:lstStyle/>
            <a:p>
              <a:pPr rtl="0"/>
              <a:r>
                <a:t>02</a:t>
              </a:r>
            </a:p>
          </dgm:t>
        </dgm:pt>
        <dgm:pt modelId="301" type="sibTrans" cxnId="6">
          <dgm:prSet phldrT="3"/>
          <dgm:t>
            <a:bodyPr rtlCol="0"/>
            <a:lstStyle/>
            <a:p>
              <a:pPr rtl="0"/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E423655-99F4-414A-A281-B166C626FBED}" type="datetime1">
              <a:rPr lang="ru-RU" smtClean="0"/>
              <a:t>16.09.2026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1E602E8-7778-4840-9C52-CF866E2E7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0039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0D39DCE-FDDD-4C68-8894-D92266AFB0D9}" type="datetime1">
              <a:rPr lang="ru-RU" smtClean="0"/>
              <a:t>16.09.2026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  <a:endParaRPr lang="en-US"/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E86D5CD-F53C-40AA-8F25-6C53AFF44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9813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376F51D-0E6E-4A75-A23B-D254C0D52FAE}" type="datetime1">
              <a:rPr lang="ru-RU" smtClean="0"/>
              <a:t>16.09.2026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E4FA72-B21F-47D1-986F-7973CEFBCDC2}" type="datetime1">
              <a:rPr lang="ru-RU" smtClean="0"/>
              <a:t>16.09.2026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7E23D99-D265-49DC-9C82-B2D75F321266}" type="datetime1">
              <a:rPr lang="ru-RU" smtClean="0"/>
              <a:t>16.09.2026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7519514-BEB7-4F29-887F-8F464FC6AC4F}" type="datetime1">
              <a:rPr lang="ru-RU" smtClean="0"/>
              <a:t>16.09.2026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Рисунок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A677EE-D5B7-49AE-9C2F-2BBA7A188D04}" type="datetime1">
              <a:rPr lang="ru-RU" smtClean="0"/>
              <a:t>16.09.2026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EE4904-EB69-4509-980A-A41B9F62C514}" type="datetime1">
              <a:rPr lang="ru-RU" smtClean="0"/>
              <a:t>16.09.2026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F90A9C-323C-4429-AE52-049736C99CF5}" type="datetime1">
              <a:rPr lang="ru-RU" smtClean="0"/>
              <a:t>16.09.2026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7E08748-9155-4E8C-8B18-D34929B7DA3F}" type="datetime1">
              <a:rPr lang="ru-RU" smtClean="0"/>
              <a:t>16.09.2026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438F62-8E28-4B7D-A8DA-6957C9310073}" type="datetime1">
              <a:rPr lang="ru-RU" smtClean="0"/>
              <a:t>16.09.2026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ый 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39109F-FA39-4352-92A9-8AA49B62A697}" type="datetime1">
              <a:rPr lang="ru-RU" smtClean="0"/>
              <a:t>16.09.2026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ECB8888-E102-45DF-A94C-4B7EAA750ED8}" type="datetime1">
              <a:rPr lang="ru-RU" smtClean="0"/>
              <a:t>16.09.2026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Текст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F762D60-F5ED-487E-879C-FFEAD324A64B}" type="datetime1">
              <a:rPr lang="ru-RU" smtClean="0"/>
              <a:t>16.09.2026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Надпись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ru" sz="8000">
                <a:solidFill>
                  <a:schemeClr val="tx1"/>
                </a:solidFill>
                <a:effectLst/>
              </a:rPr>
              <a:t>«</a:t>
            </a:r>
          </a:p>
        </p:txBody>
      </p:sp>
      <p:sp>
        <p:nvSpPr>
          <p:cNvPr id="13" name="Надпись 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ru" sz="8000">
                <a:solidFill>
                  <a:schemeClr val="tx1"/>
                </a:solidFill>
                <a:effectLst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с имен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CCB53E-3003-46EC-9147-1EB4A113050D}" type="datetime1">
              <a:rPr lang="ru-RU" smtClean="0"/>
              <a:t>16.09.2026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столб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 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Текст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8" name="Текст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9" name="Текст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10" name="Текст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11" name="Текст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12" name="Текст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2A90B4B-F7DE-484E-BCF4-80CF0386CBEA}" type="datetime1">
              <a:rPr lang="ru-RU" smtClean="0"/>
              <a:t>16.09.2026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Рисунок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Рисунок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Заголовок 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Текст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20" name="Рисунок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Текст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22" name="Текст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23" name="Рисунок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Текст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25" name="Текст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26" name="Рисунок 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Текст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3C53675-63B5-475C-9581-11F28D58B6F8}" type="datetime1">
              <a:rPr lang="ru-RU" smtClean="0"/>
              <a:t>16.09.2026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C7FA24-3B06-42D5-9D27-1B01EF6B8A1A}" type="datetime1">
              <a:rPr lang="ru-RU" smtClean="0"/>
              <a:t>16.09.2026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rtlCol="0" anchor="t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684A81F-4A8D-4EFF-B3FE-B7FF49A0FE1D}" type="datetime1">
              <a:rPr lang="ru-RU" smtClean="0"/>
              <a:t>16.09.2026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" dirty="0"/>
              <a:t>Стиль образца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3F338F7-D97C-4122-9BE8-A78CC781FF6F}" type="datetime1">
              <a:rPr lang="ru-RU" smtClean="0"/>
              <a:t>16.09.2026</a:t>
            </a:fld>
            <a:endParaRPr lang="en-US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чашки, кофе, еды, напитка&#10;&#10;Автоматически созданное описание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 rtlCol="0">
            <a:normAutofit/>
          </a:bodyPr>
          <a:lstStyle/>
          <a:p>
            <a:pPr rtl="0"/>
            <a:r>
              <a:rPr lang="ru-RU" sz="7200" dirty="0"/>
              <a:t>УПРАВЛЕНИЕ РИСКАМИ ПРОЕКТА</a:t>
            </a:r>
            <a:endParaRPr lang="ru" sz="7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 rtlCol="0">
            <a:normAutofit/>
          </a:bodyPr>
          <a:lstStyle/>
          <a:p>
            <a:r>
              <a:rPr lang="ru-RU" sz="2800" dirty="0"/>
              <a:t>«</a:t>
            </a:r>
            <a:r>
              <a:rPr lang="ru-RU" sz="2800" dirty="0" err="1"/>
              <a:t>СвежийРай</a:t>
            </a:r>
            <a:r>
              <a:rPr lang="ru-RU" sz="2800" dirty="0"/>
              <a:t>»</a:t>
            </a:r>
            <a:endParaRPr lang="ru" sz="2800" dirty="0"/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 rtlCol="0">
            <a:normAutofit/>
          </a:bodyPr>
          <a:lstStyle/>
          <a:p>
            <a:pPr rtl="0"/>
            <a:r>
              <a:rPr lang="ru-RU" dirty="0"/>
              <a:t>Повестка дня</a:t>
            </a:r>
            <a:endParaRPr lang="ru" dirty="0"/>
          </a:p>
        </p:txBody>
      </p:sp>
      <p:graphicFrame>
        <p:nvGraphicFramePr>
          <p:cNvPr id="4" name="Объект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7403736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DDBC0B-1087-4749-A88F-EA2FB6A75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Планирование управления рисками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152904-628F-419C-859C-2FABA1568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RBS (Risk Breakdown Structure)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98BDF0-51AD-4AED-8E5E-CC6492491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Согласно </a:t>
            </a:r>
            <a:r>
              <a:rPr lang="en-US" dirty="0"/>
              <a:t>PMBOK </a:t>
            </a:r>
          </a:p>
        </p:txBody>
      </p:sp>
    </p:spTree>
    <p:extLst>
      <p:ext uri="{BB962C8B-B14F-4D97-AF65-F5344CB8AC3E}">
        <p14:creationId xmlns:p14="http://schemas.microsoft.com/office/powerpoint/2010/main" val="1462571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F3B2DF5-539F-419C-BE81-9F44EB271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377629B8-F770-4835-96F2-1D10B037C1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291623"/>
              </p:ext>
            </p:extLst>
          </p:nvPr>
        </p:nvGraphicFramePr>
        <p:xfrm>
          <a:off x="571500" y="492127"/>
          <a:ext cx="11010900" cy="5915664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968500">
                  <a:extLst>
                    <a:ext uri="{9D8B030D-6E8A-4147-A177-3AD203B41FA5}">
                      <a16:colId xmlns:a16="http://schemas.microsoft.com/office/drawing/2014/main" val="25163393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3441935571"/>
                    </a:ext>
                  </a:extLst>
                </a:gridCol>
                <a:gridCol w="5918200">
                  <a:extLst>
                    <a:ext uri="{9D8B030D-6E8A-4147-A177-3AD203B41FA5}">
                      <a16:colId xmlns:a16="http://schemas.microsoft.com/office/drawing/2014/main" val="2402001500"/>
                    </a:ext>
                  </a:extLst>
                </a:gridCol>
              </a:tblGrid>
              <a:tr h="28547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Уровень 1 (Категория)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8478" marT="55299" marB="55299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Уровень 2 (Подкатегория)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478" marR="88478" marT="55299" marB="55299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Примеры источников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478" marR="88478" marT="55299" marB="55299" anchor="ctr"/>
                </a:tc>
                <a:extLst>
                  <a:ext uri="{0D108BD9-81ED-4DB2-BD59-A6C34878D82A}">
                    <a16:rowId xmlns:a16="http://schemas.microsoft.com/office/drawing/2014/main" val="2995678894"/>
                  </a:ext>
                </a:extLst>
              </a:tr>
              <a:tr h="559929">
                <a:tc rowSpan="3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1. Технические риски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8478" marT="55299" marB="55299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1.1. Архитектура и интеграции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478" marR="88478" marT="55299" marB="55299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Платёжный шлюз, API системы лояльности, несовместимость версий iOS/Android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478" marR="0" marT="55299" marB="55299" anchor="ctr"/>
                </a:tc>
                <a:extLst>
                  <a:ext uri="{0D108BD9-81ED-4DB2-BD59-A6C34878D82A}">
                    <a16:rowId xmlns:a16="http://schemas.microsoft.com/office/drawing/2014/main" val="2824284123"/>
                  </a:ext>
                </a:extLst>
              </a:tr>
              <a:tr h="69715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1.2. Качество и тестирование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478" marR="88478" marT="55299" marB="55299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Недостаточное покрытие тестами, критические дефекты на релизе, проблемы производительности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478" marR="0" marT="55299" marB="55299" anchor="ctr"/>
                </a:tc>
                <a:extLst>
                  <a:ext uri="{0D108BD9-81ED-4DB2-BD59-A6C34878D82A}">
                    <a16:rowId xmlns:a16="http://schemas.microsoft.com/office/drawing/2014/main" val="1256087182"/>
                  </a:ext>
                </a:extLst>
              </a:tr>
              <a:tr h="55992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1.3. Безопасность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478" marR="88478" marT="55299" marB="55299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Уязвимости в мобильном приложении, несоответствие 152-ФЗ, утечка персональных данных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478" marR="0" marT="55299" marB="55299" anchor="ctr"/>
                </a:tc>
                <a:extLst>
                  <a:ext uri="{0D108BD9-81ED-4DB2-BD59-A6C34878D82A}">
                    <a16:rowId xmlns:a16="http://schemas.microsoft.com/office/drawing/2014/main" val="1319239378"/>
                  </a:ext>
                </a:extLst>
              </a:tr>
              <a:tr h="697158"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2. Внешние риски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8478" marT="55299" marB="55299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2.1. Вендоры и подрядчики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478" marR="88478" marT="55299" marB="55299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Задержка API-документации от платёжной системы, срыв сроков интеграции с системой лояльности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478" marR="0" marT="55299" marB="55299" anchor="ctr"/>
                </a:tc>
                <a:extLst>
                  <a:ext uri="{0D108BD9-81ED-4DB2-BD59-A6C34878D82A}">
                    <a16:rowId xmlns:a16="http://schemas.microsoft.com/office/drawing/2014/main" val="1485398239"/>
                  </a:ext>
                </a:extLst>
              </a:tr>
              <a:tr h="55992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2.2. Рыночные и регуляторные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478" marR="88478" marT="55299" marB="55299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Изменение требований 152-ФЗ, рост стоимости эквайринга, действия конкурентов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478" marR="0" marT="55299" marB="55299" anchor="ctr"/>
                </a:tc>
                <a:extLst>
                  <a:ext uri="{0D108BD9-81ED-4DB2-BD59-A6C34878D82A}">
                    <a16:rowId xmlns:a16="http://schemas.microsoft.com/office/drawing/2014/main" val="1540902168"/>
                  </a:ext>
                </a:extLst>
              </a:tr>
              <a:tr h="559929"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3. Организационные риски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8478" marT="55299" marB="55299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3.1. Ресурсы и команда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478" marR="88478" marT="55299" marB="55299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Уход ключевого разработчика, нехватка компетенций по интеграции, болезнь сотрудников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478" marR="0" marT="55299" marB="55299" anchor="ctr"/>
                </a:tc>
                <a:extLst>
                  <a:ext uri="{0D108BD9-81ED-4DB2-BD59-A6C34878D82A}">
                    <a16:rowId xmlns:a16="http://schemas.microsoft.com/office/drawing/2014/main" val="1539276593"/>
                  </a:ext>
                </a:extLst>
              </a:tr>
              <a:tr h="69715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3.2. Процессы и коммуникации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478" marR="88478" marT="55299" marB="55299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Несогласованность требований с заказчиком, задержка согласований, слабая обратная связь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478" marR="0" marT="55299" marB="55299" anchor="ctr"/>
                </a:tc>
                <a:extLst>
                  <a:ext uri="{0D108BD9-81ED-4DB2-BD59-A6C34878D82A}">
                    <a16:rowId xmlns:a16="http://schemas.microsoft.com/office/drawing/2014/main" val="3406019082"/>
                  </a:ext>
                </a:extLst>
              </a:tr>
              <a:tr h="559929"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4. Риски управления проектом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8478" marT="55299" marB="55299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4.1. Сроки и бюджет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478" marR="88478" marT="55299" marB="55299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Жёсткий дедлайн (Чёрная Пятница), перерасход бюджета, нереалистичное планирование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478" marR="0" marT="55299" marB="55299" anchor="ctr"/>
                </a:tc>
                <a:extLst>
                  <a:ext uri="{0D108BD9-81ED-4DB2-BD59-A6C34878D82A}">
                    <a16:rowId xmlns:a16="http://schemas.microsoft.com/office/drawing/2014/main" val="2865368755"/>
                  </a:ext>
                </a:extLst>
              </a:tr>
              <a:tr h="69715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4.2. Планирование и контроль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478" marR="88478" marT="55299" marB="55299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Недостаточная детализация задач, отсутствие резервов, неэффективный мониторинг прогресса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478" marR="0" marT="55299" marB="55299" anchor="ctr"/>
                </a:tc>
                <a:extLst>
                  <a:ext uri="{0D108BD9-81ED-4DB2-BD59-A6C34878D82A}">
                    <a16:rowId xmlns:a16="http://schemas.microsoft.com/office/drawing/2014/main" val="2223745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4190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176C9D-F557-4756-B109-9AA48BE44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5182205" cy="5756274"/>
          </a:xfrm>
        </p:spPr>
        <p:txBody>
          <a:bodyPr/>
          <a:lstStyle/>
          <a:p>
            <a:r>
              <a:rPr lang="ru-RU" dirty="0"/>
              <a:t>Идентификация рисков</a:t>
            </a:r>
          </a:p>
        </p:txBody>
      </p:sp>
      <p:pic>
        <p:nvPicPr>
          <p:cNvPr id="3074" name="Picture 2" descr="Что такое идентификация рисков в управлении проектами? | Blog Wrike">
            <a:extLst>
              <a:ext uri="{FF2B5EF4-FFF2-40B4-BE49-F238E27FC236}">
                <a16:creationId xmlns:a16="http://schemas.microsoft.com/office/drawing/2014/main" id="{B2A989E8-0530-48A4-A193-D06526012E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91" r="18948"/>
          <a:stretch/>
        </p:blipFill>
        <p:spPr bwMode="auto">
          <a:xfrm>
            <a:off x="6096000" y="609600"/>
            <a:ext cx="5182205" cy="5630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7274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BD2B041B-0C3C-4FC2-B2D3-8792E42FDD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342583"/>
              </p:ext>
            </p:extLst>
          </p:nvPr>
        </p:nvGraphicFramePr>
        <p:xfrm>
          <a:off x="558800" y="495300"/>
          <a:ext cx="11061700" cy="5918199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val="2097094535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3879301815"/>
                    </a:ext>
                  </a:extLst>
                </a:gridCol>
                <a:gridCol w="6654800">
                  <a:extLst>
                    <a:ext uri="{9D8B030D-6E8A-4147-A177-3AD203B41FA5}">
                      <a16:colId xmlns:a16="http://schemas.microsoft.com/office/drawing/2014/main" val="3640074287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008472072"/>
                    </a:ext>
                  </a:extLst>
                </a:gridCol>
              </a:tblGrid>
              <a:tr h="35432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ID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47028" marT="29393" marB="29393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Категория (из RBS)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028" marR="47028" marT="29393" marB="29393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Формулировка риска (Причина → Событие → Последствие)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028" marR="47028" marT="29393" marB="29393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Тип 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028" marR="47028" marT="29393" marB="29393" anchor="ctr"/>
                </a:tc>
                <a:extLst>
                  <a:ext uri="{0D108BD9-81ED-4DB2-BD59-A6C34878D82A}">
                    <a16:rowId xmlns:a16="http://schemas.microsoft.com/office/drawing/2014/main" val="1233439354"/>
                  </a:ext>
                </a:extLst>
              </a:tr>
              <a:tr h="114805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R1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47028" marT="29393" marB="2939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2.1. Вендоры и подрядчики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028" marR="47028" marT="29393" marB="29393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 связи с тем, что платёжная система не предоставила API-документацию в срок, существует вероятность задержки интеграции, что приведёт к срыву сроков тестирования и штрафным санкциям со стороны заказчика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028" marR="47028" marT="29393" marB="29393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Угроза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028" marR="0" marT="29393" marB="29393" anchor="ctr"/>
                </a:tc>
                <a:extLst>
                  <a:ext uri="{0D108BD9-81ED-4DB2-BD59-A6C34878D82A}">
                    <a16:rowId xmlns:a16="http://schemas.microsoft.com/office/drawing/2014/main" val="3345314969"/>
                  </a:ext>
                </a:extLst>
              </a:tr>
              <a:tr h="123624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R2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47028" marT="29393" marB="2939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1.1. Архитектура и интеграции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028" marR="47028" marT="29393" marB="29393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 связи с тем, что система лояльности заказчика использует устаревший протокол, существует вероятность несовместимости с новым мобильным приложением, что потребует дополнительных затрат на разработку адаптера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028" marR="47028" marT="29393" marB="29393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Угроза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028" marR="0" marT="29393" marB="29393" anchor="ctr"/>
                </a:tc>
                <a:extLst>
                  <a:ext uri="{0D108BD9-81ED-4DB2-BD59-A6C34878D82A}">
                    <a16:rowId xmlns:a16="http://schemas.microsoft.com/office/drawing/2014/main" val="875524476"/>
                  </a:ext>
                </a:extLst>
              </a:tr>
              <a:tr h="97166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R3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47028" marT="29393" marB="2939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1.3. Безопасность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028" marR="47028" marT="29393" marB="29393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 связи с жёсткими требованиями 152-ФЗ, существует вероятность выявления уязвимостей при аудите безопасности, что приведёт к переносу даты запуска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028" marR="47028" marT="29393" marB="29393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Угроза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028" marR="0" marT="29393" marB="29393" anchor="ctr"/>
                </a:tc>
                <a:extLst>
                  <a:ext uri="{0D108BD9-81ED-4DB2-BD59-A6C34878D82A}">
                    <a16:rowId xmlns:a16="http://schemas.microsoft.com/office/drawing/2014/main" val="1062536099"/>
                  </a:ext>
                </a:extLst>
              </a:tr>
              <a:tr h="97166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R4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47028" marT="29393" marB="2939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3.1. Ресурсы и команда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028" marR="47028" marT="29393" marB="29393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 связи с тем, что ключевой </a:t>
                      </a:r>
                      <a:r>
                        <a:rPr lang="ru-RU" sz="1600" dirty="0" err="1">
                          <a:effectLst/>
                        </a:rPr>
                        <a:t>Backend</a:t>
                      </a:r>
                      <a:r>
                        <a:rPr lang="ru-RU" sz="1600" dirty="0">
                          <a:effectLst/>
                        </a:rPr>
                        <a:t>-разработчик может покинуть проект, существует вероятность потери критических знаний по интеграции, что замедлит разработку на 3–4 недели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028" marR="47028" marT="29393" marB="29393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Угроза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028" marR="0" marT="29393" marB="29393" anchor="ctr"/>
                </a:tc>
                <a:extLst>
                  <a:ext uri="{0D108BD9-81ED-4DB2-BD59-A6C34878D82A}">
                    <a16:rowId xmlns:a16="http://schemas.microsoft.com/office/drawing/2014/main" val="4268748488"/>
                  </a:ext>
                </a:extLst>
              </a:tr>
              <a:tr h="123624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R5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47028" marT="29393" marB="2939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3.2. Процессы и коммуникации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028" marR="47028" marT="29393" marB="29393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 связи с тем, что команда использует гибкий подход с короткими итерациями, существует возможность раннего выявления проблемных интеграций, что позволит скорректировать архитектуру до релиза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028" marR="47028" marT="29393" marB="29393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Возможность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028" marR="0" marT="29393" marB="29393" anchor="ctr"/>
                </a:tc>
                <a:extLst>
                  <a:ext uri="{0D108BD9-81ED-4DB2-BD59-A6C34878D82A}">
                    <a16:rowId xmlns:a16="http://schemas.microsoft.com/office/drawing/2014/main" val="3618037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7472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7C5738-2D78-4A68-A288-B0334C8AD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09600"/>
            <a:ext cx="5171557" cy="5756274"/>
          </a:xfrm>
        </p:spPr>
        <p:txBody>
          <a:bodyPr/>
          <a:lstStyle/>
          <a:p>
            <a:r>
              <a:rPr lang="ru-RU" dirty="0"/>
              <a:t>Качественный анализ рисков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2C252AF-215E-41B9-B8A5-28D90ABA1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pic>
        <p:nvPicPr>
          <p:cNvPr id="4098" name="Picture 2" descr="Анализ рисков, методы оценки рисков, классификация рисков | Estimatica -  наука оценивать">
            <a:extLst>
              <a:ext uri="{FF2B5EF4-FFF2-40B4-BE49-F238E27FC236}">
                <a16:creationId xmlns:a16="http://schemas.microsoft.com/office/drawing/2014/main" id="{EA84BCE2-75C9-418F-996F-5C0EC0B487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475"/>
          <a:stretch/>
        </p:blipFill>
        <p:spPr bwMode="auto">
          <a:xfrm>
            <a:off x="924442" y="609600"/>
            <a:ext cx="5171557" cy="5908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1363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75509E-744A-4DFF-A0BF-A21166D8B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Матрица приоритетов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F764B25-781A-4915-9C88-6F94060E2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1–3 балла: Низкий приоритет (Зелёная зона)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FA718CF-E1BB-4E34-9F0D-5FD60293572F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BB012CA-D436-450D-8099-3B7D159BE2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4–6 баллов: Средний приоритет (Жёлтая зона)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369D92F-565F-44D0-AEEA-D31919C906E5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0A1CC99E-62C8-4534-8831-6A9029A130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7–9 баллов: Высокий приоритет (Красная зона)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3102B1C-AA01-48E7-BB7B-EDF96A2F933C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F91DB690-FDE1-4ED8-9A21-6474B8BAB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2A90B4B-F7DE-484E-BCF4-80CF0386CBEA}" type="datetime1">
              <a:rPr lang="ru-RU" smtClean="0"/>
              <a:t>16.09.2026</a:t>
            </a:fld>
            <a:endParaRPr lang="en-US" dirty="0"/>
          </a:p>
        </p:txBody>
      </p:sp>
      <p:pic>
        <p:nvPicPr>
          <p:cNvPr id="5122" name="Picture 2" descr="Страница 2 | Человек показывает лайк изображения — Бесплатная загрузка на  Magnific (ранее Freepik)">
            <a:extLst>
              <a:ext uri="{FF2B5EF4-FFF2-40B4-BE49-F238E27FC236}">
                <a16:creationId xmlns:a16="http://schemas.microsoft.com/office/drawing/2014/main" id="{97E5952B-1893-4C90-AB49-487FD4E4A2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12" r="16868" b="17767"/>
          <a:stretch/>
        </p:blipFill>
        <p:spPr bwMode="auto">
          <a:xfrm>
            <a:off x="924444" y="2768110"/>
            <a:ext cx="3300985" cy="3023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Тревожный человек компьютером фотографии — Скачать бесплатные  высококачественные изображения | Magnific (ранее Freepik)">
            <a:extLst>
              <a:ext uri="{FF2B5EF4-FFF2-40B4-BE49-F238E27FC236}">
                <a16:creationId xmlns:a16="http://schemas.microsoft.com/office/drawing/2014/main" id="{183F4E54-18AE-47BD-A88B-B44BC4476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19" t="13267" r="19397" b="6484"/>
          <a:stretch/>
        </p:blipFill>
        <p:spPr bwMode="auto">
          <a:xfrm>
            <a:off x="4446712" y="2768109"/>
            <a:ext cx="3295708" cy="3023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Хаос фотографии — Скачать бесплатные высококачественные изображения |  Magnific (ранее Freepik)">
            <a:extLst>
              <a:ext uri="{FF2B5EF4-FFF2-40B4-BE49-F238E27FC236}">
                <a16:creationId xmlns:a16="http://schemas.microsoft.com/office/drawing/2014/main" id="{EE79A2F8-7FB8-469E-A8DA-8CE6D9C753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35" t="7843" r="20386" b="12106"/>
          <a:stretch/>
        </p:blipFill>
        <p:spPr bwMode="auto">
          <a:xfrm>
            <a:off x="7982495" y="2768109"/>
            <a:ext cx="3295709" cy="3023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392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5F972B31-3B57-4BF5-B977-9C1B28ABE8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562029"/>
              </p:ext>
            </p:extLst>
          </p:nvPr>
        </p:nvGraphicFramePr>
        <p:xfrm>
          <a:off x="520700" y="406400"/>
          <a:ext cx="11137900" cy="5997163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662149">
                  <a:extLst>
                    <a:ext uri="{9D8B030D-6E8A-4147-A177-3AD203B41FA5}">
                      <a16:colId xmlns:a16="http://schemas.microsoft.com/office/drawing/2014/main" val="3808684201"/>
                    </a:ext>
                  </a:extLst>
                </a:gridCol>
                <a:gridCol w="3398116">
                  <a:extLst>
                    <a:ext uri="{9D8B030D-6E8A-4147-A177-3AD203B41FA5}">
                      <a16:colId xmlns:a16="http://schemas.microsoft.com/office/drawing/2014/main" val="2992247122"/>
                    </a:ext>
                  </a:extLst>
                </a:gridCol>
                <a:gridCol w="2486284">
                  <a:extLst>
                    <a:ext uri="{9D8B030D-6E8A-4147-A177-3AD203B41FA5}">
                      <a16:colId xmlns:a16="http://schemas.microsoft.com/office/drawing/2014/main" val="2415702622"/>
                    </a:ext>
                  </a:extLst>
                </a:gridCol>
                <a:gridCol w="1884486">
                  <a:extLst>
                    <a:ext uri="{9D8B030D-6E8A-4147-A177-3AD203B41FA5}">
                      <a16:colId xmlns:a16="http://schemas.microsoft.com/office/drawing/2014/main" val="1132905233"/>
                    </a:ext>
                  </a:extLst>
                </a:gridCol>
                <a:gridCol w="1630870">
                  <a:extLst>
                    <a:ext uri="{9D8B030D-6E8A-4147-A177-3AD203B41FA5}">
                      <a16:colId xmlns:a16="http://schemas.microsoft.com/office/drawing/2014/main" val="1034015380"/>
                    </a:ext>
                  </a:extLst>
                </a:gridCol>
                <a:gridCol w="1075995">
                  <a:extLst>
                    <a:ext uri="{9D8B030D-6E8A-4147-A177-3AD203B41FA5}">
                      <a16:colId xmlns:a16="http://schemas.microsoft.com/office/drawing/2014/main" val="1576504398"/>
                    </a:ext>
                  </a:extLst>
                </a:gridCol>
              </a:tblGrid>
              <a:tr h="50722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ID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296" marT="95185" marB="9518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Риск (кратко)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152296" marT="95185" marB="9518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Вероятность (P)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152296" marT="95185" marB="9518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Влияние (I)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152296" marT="95185" marB="9518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effectLst/>
                        </a:rPr>
                        <a:t>Score</a:t>
                      </a:r>
                      <a:r>
                        <a:rPr lang="ru-RU" sz="2000" dirty="0">
                          <a:effectLst/>
                        </a:rPr>
                        <a:t> (P×I)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152296" marT="95185" marB="9518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Зона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152296" marT="95185" marB="95185" anchor="ctr"/>
                </a:tc>
                <a:extLst>
                  <a:ext uri="{0D108BD9-81ED-4DB2-BD59-A6C34878D82A}">
                    <a16:rowId xmlns:a16="http://schemas.microsoft.com/office/drawing/2014/main" val="12260993"/>
                  </a:ext>
                </a:extLst>
              </a:tr>
              <a:tr h="113687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R1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296" marT="95185" marB="9518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Задержка API-документации от платёжной системы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152296" marT="95185" marB="9518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3 (Высокая)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152296" marT="95185" marB="9518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3 (Высокое)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152296" marT="95185" marB="9518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9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152296" marT="95185" marB="9518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FF0000"/>
                          </a:solidFill>
                          <a:effectLst/>
                        </a:rPr>
                        <a:t>🔴</a:t>
                      </a:r>
                      <a:endParaRPr lang="ru-RU" sz="2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0" marT="95185" marB="95185" anchor="ctr"/>
                </a:tc>
                <a:extLst>
                  <a:ext uri="{0D108BD9-81ED-4DB2-BD59-A6C34878D82A}">
                    <a16:rowId xmlns:a16="http://schemas.microsoft.com/office/drawing/2014/main" val="3366036577"/>
                  </a:ext>
                </a:extLst>
              </a:tr>
              <a:tr h="92699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R2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296" marT="95185" marB="9518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Несовместимость с системой лояльности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152296" marT="95185" marB="9518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2 (Средняя)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152296" marT="95185" marB="9518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2 (Среднее)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152296" marT="95185" marB="9518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4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152296" marT="95185" marB="9518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DF985C"/>
                          </a:solidFill>
                          <a:effectLst/>
                        </a:rPr>
                        <a:t>🔴</a:t>
                      </a:r>
                      <a:endParaRPr lang="ru-RU" sz="2000" dirty="0">
                        <a:solidFill>
                          <a:srgbClr val="DF985C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0" marT="95185" marB="95185" anchor="ctr"/>
                </a:tc>
                <a:extLst>
                  <a:ext uri="{0D108BD9-81ED-4DB2-BD59-A6C34878D82A}">
                    <a16:rowId xmlns:a16="http://schemas.microsoft.com/office/drawing/2014/main" val="4130396933"/>
                  </a:ext>
                </a:extLst>
              </a:tr>
              <a:tr h="113687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R3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296" marT="95185" marB="9518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Уязвимости при аудите безопасности (152-ФЗ)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152296" marT="95185" marB="9518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 (Средняя)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152296" marT="95185" marB="9518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3 (Высокое)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152296" marT="95185" marB="9518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6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152296" marT="95185" marB="9518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DF985C"/>
                          </a:solidFill>
                          <a:effectLst/>
                        </a:rPr>
                        <a:t>🔴</a:t>
                      </a:r>
                      <a:endParaRPr lang="ru-RU" sz="2000" dirty="0">
                        <a:solidFill>
                          <a:srgbClr val="DF985C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0" marT="95185" marB="95185" anchor="ctr"/>
                </a:tc>
                <a:extLst>
                  <a:ext uri="{0D108BD9-81ED-4DB2-BD59-A6C34878D82A}">
                    <a16:rowId xmlns:a16="http://schemas.microsoft.com/office/drawing/2014/main" val="1660888882"/>
                  </a:ext>
                </a:extLst>
              </a:tr>
              <a:tr h="92699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R4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296" marT="95185" marB="9518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Уход ключевого </a:t>
                      </a:r>
                      <a:r>
                        <a:rPr lang="ru-RU" sz="2000" dirty="0" err="1">
                          <a:effectLst/>
                        </a:rPr>
                        <a:t>Backend</a:t>
                      </a:r>
                      <a:r>
                        <a:rPr lang="ru-RU" sz="2000" dirty="0">
                          <a:effectLst/>
                        </a:rPr>
                        <a:t>-разработчика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152296" marT="95185" marB="9518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 (Средняя)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152296" marT="95185" marB="9518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3 (Высокое)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152296" marT="95185" marB="9518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6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152296" marT="95185" marB="9518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DF985C"/>
                          </a:solidFill>
                          <a:effectLst/>
                        </a:rPr>
                        <a:t>🔴</a:t>
                      </a:r>
                      <a:endParaRPr lang="ru-RU" sz="2000" dirty="0">
                        <a:solidFill>
                          <a:srgbClr val="DF985C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0" marT="95185" marB="95185" anchor="ctr"/>
                </a:tc>
                <a:extLst>
                  <a:ext uri="{0D108BD9-81ED-4DB2-BD59-A6C34878D82A}">
                    <a16:rowId xmlns:a16="http://schemas.microsoft.com/office/drawing/2014/main" val="2029992649"/>
                  </a:ext>
                </a:extLst>
              </a:tr>
              <a:tr h="134675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R5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296" marT="95185" marB="9518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Раннее выявление проблем интеграции (возможность)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152296" marT="95185" marB="9518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 (Средняя)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152296" marT="95185" marB="9518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3 (Высокое)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152296" marT="95185" marB="9518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6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152296" marT="95185" marB="9518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DF985C"/>
                          </a:solidFill>
                          <a:effectLst/>
                        </a:rPr>
                        <a:t>🔴</a:t>
                      </a:r>
                      <a:endParaRPr lang="ru-RU" sz="2000" dirty="0">
                        <a:solidFill>
                          <a:srgbClr val="DF985C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296" marR="0" marT="95185" marB="95185" anchor="ctr"/>
                </a:tc>
                <a:extLst>
                  <a:ext uri="{0D108BD9-81ED-4DB2-BD59-A6C34878D82A}">
                    <a16:rowId xmlns:a16="http://schemas.microsoft.com/office/drawing/2014/main" val="2875541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8568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4AD8EC-9F0E-45FA-B52D-9BBCDD322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Планирование реагирования на риски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D5F62DE-84B2-4F2A-B28D-5BFD6C191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Стратегии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04413D-1839-45F9-9384-38DC6B9EF06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/>
            <a:r>
              <a:rPr lang="ru-RU" b="1" dirty="0">
                <a:effectLst/>
              </a:rPr>
              <a:t>Избежание (</a:t>
            </a:r>
            <a:r>
              <a:rPr lang="ru-RU" b="1" dirty="0" err="1">
                <a:effectLst/>
              </a:rPr>
              <a:t>Avoid</a:t>
            </a:r>
            <a:r>
              <a:rPr lang="ru-RU" b="1" dirty="0">
                <a:effectLst/>
              </a:rPr>
              <a:t>), </a:t>
            </a:r>
            <a:endParaRPr lang="ru-RU" dirty="0">
              <a:effectLst/>
            </a:endParaRPr>
          </a:p>
          <a:p>
            <a:pPr lvl="0"/>
            <a:r>
              <a:rPr lang="ru-RU" b="1" dirty="0">
                <a:effectLst/>
              </a:rPr>
              <a:t>Передача (</a:t>
            </a:r>
            <a:r>
              <a:rPr lang="ru-RU" b="1" dirty="0" err="1">
                <a:effectLst/>
              </a:rPr>
              <a:t>Transfer</a:t>
            </a:r>
            <a:r>
              <a:rPr lang="ru-RU" b="1" dirty="0">
                <a:effectLst/>
              </a:rPr>
              <a:t>), </a:t>
            </a:r>
            <a:endParaRPr lang="ru-RU" dirty="0">
              <a:effectLst/>
            </a:endParaRPr>
          </a:p>
          <a:p>
            <a:pPr lvl="0"/>
            <a:r>
              <a:rPr lang="ru-RU" b="1" dirty="0">
                <a:effectLst/>
              </a:rPr>
              <a:t>Снижение (</a:t>
            </a:r>
            <a:r>
              <a:rPr lang="ru-RU" b="1" dirty="0" err="1">
                <a:effectLst/>
              </a:rPr>
              <a:t>Mitigate</a:t>
            </a:r>
            <a:r>
              <a:rPr lang="ru-RU" b="1" dirty="0">
                <a:effectLst/>
              </a:rPr>
              <a:t>), </a:t>
            </a:r>
            <a:endParaRPr lang="ru-RU" dirty="0">
              <a:effectLst/>
            </a:endParaRPr>
          </a:p>
          <a:p>
            <a:pPr lvl="0"/>
            <a:r>
              <a:rPr lang="ru-RU" b="1" dirty="0">
                <a:effectLst/>
              </a:rPr>
              <a:t>Принятие (</a:t>
            </a:r>
            <a:r>
              <a:rPr lang="ru-RU" b="1" dirty="0" err="1">
                <a:effectLst/>
              </a:rPr>
              <a:t>Accept</a:t>
            </a:r>
            <a:r>
              <a:rPr lang="ru-RU" b="1" dirty="0">
                <a:effectLst/>
              </a:rPr>
              <a:t>), </a:t>
            </a:r>
            <a:endParaRPr lang="ru-RU" dirty="0">
              <a:effectLst/>
            </a:endParaRPr>
          </a:p>
          <a:p>
            <a:pPr lvl="0"/>
            <a:r>
              <a:rPr lang="ru-RU" b="1" dirty="0">
                <a:effectLst/>
              </a:rPr>
              <a:t>Эскалация (</a:t>
            </a:r>
            <a:r>
              <a:rPr lang="ru-RU" b="1" dirty="0" err="1">
                <a:effectLst/>
              </a:rPr>
              <a:t>Escalate</a:t>
            </a:r>
            <a:r>
              <a:rPr lang="ru-RU" b="1" dirty="0">
                <a:effectLst/>
              </a:rPr>
              <a:t>)</a:t>
            </a:r>
            <a:r>
              <a:rPr lang="ru-RU" dirty="0">
                <a:effectLst/>
              </a:rPr>
              <a:t>. </a:t>
            </a:r>
          </a:p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6DB14FC-CB39-4BA3-A0D4-9154A1461F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Возможности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5ADB3E7-07CA-4C7D-A638-C4B3AB69F58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lvl="0"/>
            <a:r>
              <a:rPr lang="ru-RU" b="1" dirty="0">
                <a:effectLst/>
              </a:rPr>
              <a:t>Использование (</a:t>
            </a:r>
            <a:r>
              <a:rPr lang="ru-RU" b="1" dirty="0" err="1">
                <a:effectLst/>
              </a:rPr>
              <a:t>Exploit</a:t>
            </a:r>
            <a:r>
              <a:rPr lang="ru-RU" b="1" dirty="0">
                <a:effectLst/>
              </a:rPr>
              <a:t>), </a:t>
            </a:r>
            <a:endParaRPr lang="ru-RU" dirty="0">
              <a:effectLst/>
            </a:endParaRPr>
          </a:p>
          <a:p>
            <a:pPr lvl="0"/>
            <a:r>
              <a:rPr lang="ru-RU" b="1" dirty="0">
                <a:effectLst/>
              </a:rPr>
              <a:t>Совместное использование (</a:t>
            </a:r>
            <a:r>
              <a:rPr lang="ru-RU" b="1" dirty="0" err="1">
                <a:effectLst/>
              </a:rPr>
              <a:t>Share</a:t>
            </a:r>
            <a:r>
              <a:rPr lang="ru-RU" b="1" dirty="0">
                <a:effectLst/>
              </a:rPr>
              <a:t>), </a:t>
            </a:r>
            <a:endParaRPr lang="ru-RU" dirty="0">
              <a:effectLst/>
            </a:endParaRPr>
          </a:p>
          <a:p>
            <a:pPr lvl="0"/>
            <a:r>
              <a:rPr lang="ru-RU" b="1" dirty="0">
                <a:effectLst/>
              </a:rPr>
              <a:t>Усиление (</a:t>
            </a:r>
            <a:r>
              <a:rPr lang="ru-RU" b="1" dirty="0" err="1">
                <a:effectLst/>
              </a:rPr>
              <a:t>Enhance</a:t>
            </a:r>
            <a:r>
              <a:rPr lang="ru-RU" b="1" dirty="0">
                <a:effectLst/>
              </a:rPr>
              <a:t>), </a:t>
            </a:r>
            <a:endParaRPr lang="ru-RU" dirty="0">
              <a:effectLst/>
            </a:endParaRPr>
          </a:p>
          <a:p>
            <a:pPr lvl="0"/>
            <a:r>
              <a:rPr lang="ru-RU" b="1" dirty="0">
                <a:effectLst/>
              </a:rPr>
              <a:t>Принятие (</a:t>
            </a:r>
            <a:r>
              <a:rPr lang="ru-RU" b="1" dirty="0" err="1">
                <a:effectLst/>
              </a:rPr>
              <a:t>Accept</a:t>
            </a:r>
            <a:r>
              <a:rPr lang="ru-RU" b="1" dirty="0">
                <a:effectLst/>
              </a:rPr>
              <a:t>), </a:t>
            </a:r>
            <a:endParaRPr lang="ru-RU" dirty="0">
              <a:effectLst/>
            </a:endParaRPr>
          </a:p>
          <a:p>
            <a:pPr lvl="0"/>
            <a:r>
              <a:rPr lang="ru-RU" b="1" dirty="0">
                <a:effectLst/>
              </a:rPr>
              <a:t>Эскалация (</a:t>
            </a:r>
            <a:r>
              <a:rPr lang="ru-RU" b="1" dirty="0" err="1">
                <a:effectLst/>
              </a:rPr>
              <a:t>Escalate</a:t>
            </a:r>
            <a:r>
              <a:rPr lang="ru-RU" b="1" dirty="0">
                <a:effectLst/>
              </a:rPr>
              <a:t>)</a:t>
            </a:r>
            <a:r>
              <a:rPr lang="ru-RU" dirty="0">
                <a:effectLst/>
              </a:rPr>
              <a:t>.</a:t>
            </a:r>
          </a:p>
          <a:p>
            <a:endParaRPr lang="ru-RU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BCB9C14-2E30-48D5-AD46-B85FDEFCA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620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43872A-D1B3-4FF5-8E7A-CF91DFD3E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Угроза 1: R1 — Задержка API-документации от платёжной системы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F6AFEE-ABF7-4E46-99F6-BE4D671FB1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Установить жёсткие контрольные точки</a:t>
            </a:r>
          </a:p>
          <a:p>
            <a:r>
              <a:rPr lang="ru-RU" dirty="0"/>
              <a:t>Разработать заглушку (</a:t>
            </a:r>
            <a:r>
              <a:rPr lang="ru-RU" dirty="0" err="1"/>
              <a:t>mock</a:t>
            </a:r>
            <a:r>
              <a:rPr lang="ru-RU" dirty="0"/>
              <a:t>-сервис)</a:t>
            </a:r>
          </a:p>
          <a:p>
            <a:r>
              <a:rPr lang="ru-RU" dirty="0"/>
              <a:t>Выделить резерв времени </a:t>
            </a:r>
          </a:p>
          <a:p>
            <a:r>
              <a:rPr lang="ru-RU" dirty="0"/>
              <a:t>Назначить ответственного </a:t>
            </a:r>
          </a:p>
          <a:p>
            <a:r>
              <a:rPr lang="ru-RU" dirty="0"/>
              <a:t>Эскалировать</a:t>
            </a:r>
          </a:p>
          <a:p>
            <a:endParaRPr lang="ru-RU" dirty="0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599536-E82F-4E19-ADC7-918C16115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pic>
        <p:nvPicPr>
          <p:cNvPr id="16" name="Объект 15">
            <a:extLst>
              <a:ext uri="{FF2B5EF4-FFF2-40B4-BE49-F238E27FC236}">
                <a16:creationId xmlns:a16="http://schemas.microsoft.com/office/drawing/2014/main" id="{377D0FBD-714A-4FB8-995B-088BCD51FBD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24700" y="2173287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AutoShape 18" descr="пустая коробка PNG рисунок, картинки и пнг прозрачный для бесплатной  загрузки | Pngtree">
            <a:extLst>
              <a:ext uri="{FF2B5EF4-FFF2-40B4-BE49-F238E27FC236}">
                <a16:creationId xmlns:a16="http://schemas.microsoft.com/office/drawing/2014/main" id="{E4682E0E-F1A9-4688-856B-C927652DCE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469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164E51-4FE5-473F-BFD5-664DC7E40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Угроза 2: R3 — Уязвимости при аудите безопасности 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40CF0AB7-136A-41A8-A548-54F21CFBB84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31144" y="2076450"/>
            <a:ext cx="3622675" cy="3622675"/>
          </a:xfrm>
          <a:prstGeom prst="rect">
            <a:avLst/>
          </a:prstGeo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6C6D5D9C-0419-4833-A9D2-06F24535F38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Внедрить практики </a:t>
            </a:r>
            <a:r>
              <a:rPr lang="ru-RU" dirty="0" err="1"/>
              <a:t>Secure</a:t>
            </a:r>
            <a:r>
              <a:rPr lang="ru-RU" dirty="0"/>
              <a:t> SDLC</a:t>
            </a:r>
          </a:p>
          <a:p>
            <a:r>
              <a:rPr lang="ru-RU" dirty="0"/>
              <a:t>Провести предварительный аудит безопасности</a:t>
            </a:r>
          </a:p>
          <a:p>
            <a:r>
              <a:rPr lang="ru-RU" dirty="0"/>
              <a:t>Привлечь внешнего консультанта</a:t>
            </a:r>
          </a:p>
          <a:p>
            <a:r>
              <a:rPr lang="ru-RU" dirty="0"/>
              <a:t>Обучить команду</a:t>
            </a:r>
          </a:p>
          <a:p>
            <a:r>
              <a:rPr lang="ru-RU" dirty="0"/>
              <a:t>Заложить резерв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6475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22D67A-C75D-4941-8373-AE500F94C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Возможность 1: R5 — Раннее выявление проблем интеграции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F7E907-9B47-43D2-8703-5C36E971B6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Запланировать </a:t>
            </a:r>
            <a:r>
              <a:rPr lang="ru-RU" dirty="0" err="1"/>
              <a:t>spike</a:t>
            </a:r>
            <a:r>
              <a:rPr lang="ru-RU" dirty="0"/>
              <a:t>-сессии </a:t>
            </a:r>
          </a:p>
          <a:p>
            <a:r>
              <a:rPr lang="ru-RU" dirty="0"/>
              <a:t>Выделить выделенного интеграционного инженера </a:t>
            </a:r>
          </a:p>
          <a:p>
            <a:r>
              <a:rPr lang="ru-RU" dirty="0"/>
              <a:t>Организовать кросс-функциональные воркшопы </a:t>
            </a:r>
          </a:p>
          <a:p>
            <a:r>
              <a:rPr lang="ru-RU" dirty="0"/>
              <a:t>Внедрить контрактное тестирование </a:t>
            </a:r>
          </a:p>
          <a:p>
            <a:r>
              <a:rPr lang="ru-RU" dirty="0"/>
              <a:t>Задокументировать выявленные проблемы </a:t>
            </a:r>
          </a:p>
          <a:p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40BB31A5-B7FC-4631-9C16-D5F7DC80631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13134" y="2076450"/>
            <a:ext cx="4852132" cy="362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709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250236-EBAF-4E43-80B6-954E1DA1A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Мониторинг рисков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003FC4-49B7-412F-A4A2-DF4AAFD49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5319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D3D5FB-6F09-4EBD-8C49-B18CA4E75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1. Действия PM в соответствии с процессом </a:t>
            </a:r>
            <a:r>
              <a:rPr lang="ru-RU" dirty="0" err="1"/>
              <a:t>Monitor</a:t>
            </a:r>
            <a:r>
              <a:rPr lang="ru-RU" dirty="0"/>
              <a:t> </a:t>
            </a:r>
            <a:r>
              <a:rPr lang="ru-RU" dirty="0" err="1"/>
              <a:t>Risks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9B32E0-967F-44A2-9453-A680E73934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737EE93-AAAF-46CB-8A89-0906064DB2C8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000" dirty="0"/>
              <a:t>Немедленная регистрация проблемы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000" dirty="0"/>
              <a:t>Активация плана реагирования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000" dirty="0"/>
              <a:t>Создание </a:t>
            </a:r>
            <a:r>
              <a:rPr lang="ru-RU" sz="2000" dirty="0" err="1"/>
              <a:t>Change</a:t>
            </a:r>
            <a:r>
              <a:rPr lang="ru-RU" sz="2000" dirty="0"/>
              <a:t> </a:t>
            </a:r>
            <a:r>
              <a:rPr lang="ru-RU" sz="2000" dirty="0" err="1"/>
              <a:t>Request</a:t>
            </a:r>
            <a:endParaRPr lang="ru-RU" sz="2000" dirty="0"/>
          </a:p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1749A55-2B51-4447-8ED0-ADC8FA63DE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C307028-DCF7-4DED-862C-10D42232855D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000" dirty="0"/>
              <a:t>Оценка влияния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000" dirty="0"/>
              <a:t>Коммуникация со стейкхолдерами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000" dirty="0"/>
              <a:t>Обновление риск-регистра</a:t>
            </a:r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918DDB2-6B6D-4BCF-A7F0-684C066330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0AE8663-A250-4A22-BB0C-718C70D6DF25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/>
              <a:t>Reserve Analysis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/>
              <a:t>Risk Audit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/>
              <a:t>Lessons Learned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0022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A02DFE-1640-4DC1-9C16-3BA92F91B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2. Использование резервов на непредвиденные работы (</a:t>
            </a:r>
            <a:r>
              <a:rPr lang="ru-RU" dirty="0" err="1"/>
              <a:t>Contingency</a:t>
            </a:r>
            <a:r>
              <a:rPr lang="ru-RU" dirty="0"/>
              <a:t> </a:t>
            </a:r>
            <a:r>
              <a:rPr lang="ru-RU" dirty="0" err="1"/>
              <a:t>Reserves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5A7C10-1A2C-4F91-A8D4-7CFE77FBD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Определить, был ли R1 включён в риск-регистр как известный риск</a:t>
            </a:r>
          </a:p>
          <a:p>
            <a:r>
              <a:rPr lang="ru-RU" dirty="0"/>
              <a:t>Оценить стоимость реакции</a:t>
            </a:r>
          </a:p>
          <a:p>
            <a:r>
              <a:rPr lang="ru-RU" dirty="0"/>
              <a:t>Списать средства из </a:t>
            </a:r>
            <a:r>
              <a:rPr lang="ru-RU" dirty="0" err="1"/>
              <a:t>contingency</a:t>
            </a:r>
            <a:r>
              <a:rPr lang="ru-RU" dirty="0"/>
              <a:t> </a:t>
            </a:r>
            <a:r>
              <a:rPr lang="ru-RU" dirty="0" err="1"/>
              <a:t>reserve</a:t>
            </a:r>
            <a:r>
              <a:rPr lang="ru-RU" dirty="0"/>
              <a:t> </a:t>
            </a:r>
          </a:p>
          <a:p>
            <a:r>
              <a:rPr lang="ru-RU" dirty="0"/>
              <a:t>Провести </a:t>
            </a:r>
            <a:r>
              <a:rPr lang="ru-RU" dirty="0" err="1"/>
              <a:t>Reserve</a:t>
            </a:r>
            <a:r>
              <a:rPr lang="ru-RU" dirty="0"/>
              <a:t> </a:t>
            </a:r>
            <a:r>
              <a:rPr lang="ru-RU" dirty="0" err="1"/>
              <a:t>Analysis</a:t>
            </a:r>
            <a:endParaRPr lang="ru-RU" dirty="0"/>
          </a:p>
          <a:p>
            <a:r>
              <a:rPr lang="ru-RU" dirty="0"/>
              <a:t>Задокументировать использование резерва </a:t>
            </a: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B510D9-1852-4A46-8F08-EAC515DE9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8E4FA72-B21F-47D1-986F-7973CEFBCDC2}" type="datetime1">
              <a:rPr lang="ru-RU" smtClean="0"/>
              <a:t>16.09.2026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322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B3B6AF-470F-4789-BFFE-49099C1C7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558799"/>
          </a:xfrm>
        </p:spPr>
        <p:txBody>
          <a:bodyPr/>
          <a:lstStyle/>
          <a:p>
            <a:r>
              <a:rPr lang="ru-RU" dirty="0"/>
              <a:t>алгоритм действий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4FDD3D72-00FD-4412-9CDE-9B39297DAA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2941111"/>
              </p:ext>
            </p:extLst>
          </p:nvPr>
        </p:nvGraphicFramePr>
        <p:xfrm>
          <a:off x="4856163" y="609600"/>
          <a:ext cx="6777037" cy="5080000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976437">
                  <a:extLst>
                    <a:ext uri="{9D8B030D-6E8A-4147-A177-3AD203B41FA5}">
                      <a16:colId xmlns:a16="http://schemas.microsoft.com/office/drawing/2014/main" val="2777670849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1321929832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856284036"/>
                    </a:ext>
                  </a:extLst>
                </a:gridCol>
              </a:tblGrid>
              <a:tr h="126482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Тип резерва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7400" marT="92125" marB="921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Назначение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7400" marR="147400" marT="92125" marB="921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Кто управляет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7400" marR="147400" marT="92125" marB="92125" anchor="ctr"/>
                </a:tc>
                <a:extLst>
                  <a:ext uri="{0D108BD9-81ED-4DB2-BD59-A6C34878D82A}">
                    <a16:rowId xmlns:a16="http://schemas.microsoft.com/office/drawing/2014/main" val="2197311515"/>
                  </a:ext>
                </a:extLst>
              </a:tr>
              <a:tr h="190758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Contingency Reserve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7400" marT="92125" marB="921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Известные риски (known unknowns)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7400" marR="147400" marT="92125" marB="921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Project Manager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7400" marR="0" marT="92125" marB="92125" anchor="ctr"/>
                </a:tc>
                <a:extLst>
                  <a:ext uri="{0D108BD9-81ED-4DB2-BD59-A6C34878D82A}">
                    <a16:rowId xmlns:a16="http://schemas.microsoft.com/office/drawing/2014/main" val="783112437"/>
                  </a:ext>
                </a:extLst>
              </a:tr>
              <a:tr h="190758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Management Reserve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7400" marT="92125" marB="921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Неизвестные риски (unknown unknowns)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7400" marR="147400" marT="92125" marB="921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Спонсор / высшее руководство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7400" marR="0" marT="92125" marB="92125" anchor="ctr"/>
                </a:tc>
                <a:extLst>
                  <a:ext uri="{0D108BD9-81ED-4DB2-BD59-A6C34878D82A}">
                    <a16:rowId xmlns:a16="http://schemas.microsoft.com/office/drawing/2014/main" val="940526838"/>
                  </a:ext>
                </a:extLst>
              </a:tr>
            </a:tbl>
          </a:graphicData>
        </a:graphic>
      </p:graphicFrame>
      <p:sp>
        <p:nvSpPr>
          <p:cNvPr id="4" name="Текст 3">
            <a:extLst>
              <a:ext uri="{FF2B5EF4-FFF2-40B4-BE49-F238E27FC236}">
                <a16:creationId xmlns:a16="http://schemas.microsoft.com/office/drawing/2014/main" id="{DF5E44A5-B139-4A20-BD11-0AD93810C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1333500"/>
            <a:ext cx="3706889" cy="4356101"/>
          </a:xfrm>
        </p:spPr>
        <p:txBody>
          <a:bodyPr>
            <a:normAutofit lnSpcReduction="10000"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400" dirty="0"/>
              <a:t>Констатация факта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400" dirty="0"/>
              <a:t>Оценка потребности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400" dirty="0"/>
              <a:t>Подготовка </a:t>
            </a:r>
            <a:r>
              <a:rPr lang="ru-RU" sz="2400" dirty="0" err="1"/>
              <a:t>Change</a:t>
            </a:r>
            <a:r>
              <a:rPr lang="ru-RU" sz="2400" dirty="0"/>
              <a:t> </a:t>
            </a:r>
            <a:r>
              <a:rPr lang="ru-RU" sz="2400" dirty="0" err="1"/>
              <a:t>Request</a:t>
            </a:r>
            <a:endParaRPr lang="ru-RU" sz="2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400" dirty="0"/>
              <a:t>Эскалация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400" dirty="0"/>
              <a:t>Анализ альтернатив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400" dirty="0"/>
              <a:t>Утверждение и выполнение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400" dirty="0"/>
              <a:t>Мониторинг</a:t>
            </a:r>
          </a:p>
          <a:p>
            <a:endParaRPr lang="ru-RU" dirty="0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1DD3BF-F6B0-4805-AB64-31021DA0C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7E08748-9155-4E8C-8B18-D34929B7DA3F}" type="datetime1">
              <a:rPr lang="ru-RU" smtClean="0"/>
              <a:t>16.09.2026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790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чашки, кофе, еды, напитка&#10;&#10;Автоматически созданное описание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 rtlCol="0">
            <a:normAutofit/>
          </a:bodyPr>
          <a:lstStyle/>
          <a:p>
            <a:pPr rtl="0"/>
            <a:r>
              <a:rPr lang="ru-RU" sz="7200" dirty="0"/>
              <a:t>СПАСИБО ЗА ВНИМАНИЕ!</a:t>
            </a:r>
            <a:endParaRPr lang="ru" sz="7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 rtlCol="0">
            <a:normAutofit/>
          </a:bodyPr>
          <a:lstStyle/>
          <a:p>
            <a:r>
              <a:rPr lang="ru-RU" sz="2800" dirty="0"/>
              <a:t>Ваш новый </a:t>
            </a:r>
            <a:r>
              <a:rPr lang="en-US" sz="2800" dirty="0"/>
              <a:t>project </a:t>
            </a:r>
            <a:r>
              <a:rPr lang="ru-RU" sz="2800" dirty="0"/>
              <a:t>менеджер – Святослав</a:t>
            </a:r>
            <a:endParaRPr lang="ru" sz="2800" dirty="0"/>
          </a:p>
        </p:txBody>
      </p:sp>
    </p:spTree>
    <p:extLst>
      <p:ext uri="{BB962C8B-B14F-4D97-AF65-F5344CB8AC3E}">
        <p14:creationId xmlns:p14="http://schemas.microsoft.com/office/powerpoint/2010/main" val="3398616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9001_TF12214701" id="{56759B6B-9885-49D2-982D-9646159608C0}" vid="{37F740C0-197C-4D7E-9343-79430DBFAB7E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{6504E073-322A-43EB-9EE6-B19A2468B214}TFe887d8cf-77a9-48cd-9a74-d8d08097a61cefb7d874_win32-a12d4078b0df</Template>
  <TotalTime>57</TotalTime>
  <Words>772</Words>
  <Application>Microsoft Office PowerPoint</Application>
  <PresentationFormat>Широкоэкранный</PresentationFormat>
  <Paragraphs>177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Arial</vt:lpstr>
      <vt:lpstr>Calibri</vt:lpstr>
      <vt:lpstr>Goudy Old Style</vt:lpstr>
      <vt:lpstr>Times New Roman</vt:lpstr>
      <vt:lpstr>Wingdings 2</vt:lpstr>
      <vt:lpstr>СланецVTI</vt:lpstr>
      <vt:lpstr>УПРАВЛЕНИЕ РИСКАМИ ПРОЕКТА</vt:lpstr>
      <vt:lpstr>Повестка дня</vt:lpstr>
      <vt:lpstr>Планирование управления рисками</vt:lpstr>
      <vt:lpstr>Презентация PowerPoint</vt:lpstr>
      <vt:lpstr>Идентификация рисков</vt:lpstr>
      <vt:lpstr>Презентация PowerPoint</vt:lpstr>
      <vt:lpstr>Качественный анализ рисков</vt:lpstr>
      <vt:lpstr>Матрица приоритетов</vt:lpstr>
      <vt:lpstr>Презентация PowerPoint</vt:lpstr>
      <vt:lpstr>Планирование реагирования на риски</vt:lpstr>
      <vt:lpstr>Угроза 1: R1 — Задержка API-документации от платёжной системы </vt:lpstr>
      <vt:lpstr>Угроза 2: R3 — Уязвимости при аудите безопасности </vt:lpstr>
      <vt:lpstr>Возможность 1: R5 — Раннее выявление проблем интеграции </vt:lpstr>
      <vt:lpstr>Мониторинг рисков</vt:lpstr>
      <vt:lpstr>1. Действия PM в соответствии с процессом Monitor Risks</vt:lpstr>
      <vt:lpstr>2. Использование резервов на непредвиденные работы (Contingency Reserves)</vt:lpstr>
      <vt:lpstr>алгоритм действий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УПРАВЛЕНИЕ РИСКАМИ ПРОЕКТА</dc:title>
  <dc:creator>SLL</dc:creator>
  <cp:lastModifiedBy>SLL</cp:lastModifiedBy>
  <cp:revision>1</cp:revision>
  <dcterms:created xsi:type="dcterms:W3CDTF">2026-09-16T10:52:02Z</dcterms:created>
  <dcterms:modified xsi:type="dcterms:W3CDTF">2026-09-16T11:49:34Z</dcterms:modified>
</cp:coreProperties>
</file>