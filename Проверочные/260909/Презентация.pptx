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>
        <p:scale>
          <a:sx n="50" d="100"/>
          <a:sy n="50" d="100"/>
        </p:scale>
        <p:origin x="-86" y="81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Титульный слайд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915128" y="1788454"/>
            <a:ext cx="8361229" cy="2098226"/>
          </a:xfrm>
        </p:spPr>
        <p:txBody>
          <a:bodyPr anchor="b">
            <a:noAutofit/>
          </a:bodyPr>
          <a:lstStyle>
            <a:lvl1pPr algn="ctr">
              <a:defRPr sz="7200" cap="all" baseline="0">
                <a:solidFill>
                  <a:schemeClr val="tx2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79906" y="3956279"/>
            <a:ext cx="6831673" cy="1086237"/>
          </a:xfrm>
        </p:spPr>
        <p:txBody>
          <a:bodyPr>
            <a:normAutofit/>
          </a:bodyPr>
          <a:lstStyle>
            <a:lvl1pPr marL="0" indent="0"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23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52858" y="6453386"/>
            <a:ext cx="1607944" cy="404614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fld id="{87DE6118-2437-4B30-8E3C-4D2BE6020583}" type="datetimeFigureOut">
              <a:rPr lang="en-US" dirty="0"/>
              <a:pPr/>
              <a:t>9/9/2026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584054" y="6453386"/>
            <a:ext cx="7023377" cy="404614"/>
          </a:xfrm>
        </p:spPr>
        <p:txBody>
          <a:bodyPr/>
          <a:lstStyle>
            <a:lvl1pPr algn="ctr">
              <a:defRPr baseline="0"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30683" y="6453386"/>
            <a:ext cx="1596292" cy="404614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fld id="{69E57DC2-970A-4B3E-BB1C-7A09969E49DF}" type="slidenum">
              <a:rPr lang="en-US" dirty="0"/>
              <a:pPr/>
              <a:t>‹#›</a:t>
            </a:fld>
            <a:endParaRPr lang="en-US" dirty="0"/>
          </a:p>
        </p:txBody>
      </p:sp>
      <p:grpSp>
        <p:nvGrpSpPr>
          <p:cNvPr id="7" name="Group 6"/>
          <p:cNvGrpSpPr/>
          <p:nvPr/>
        </p:nvGrpSpPr>
        <p:grpSpPr>
          <a:xfrm>
            <a:off x="752858" y="744469"/>
            <a:ext cx="10674117" cy="5349671"/>
            <a:chOff x="752858" y="744469"/>
            <a:chExt cx="10674117" cy="5349671"/>
          </a:xfrm>
        </p:grpSpPr>
        <p:sp>
          <p:nvSpPr>
            <p:cNvPr id="11" name="Freeform 6"/>
            <p:cNvSpPr/>
            <p:nvPr/>
          </p:nvSpPr>
          <p:spPr bwMode="auto">
            <a:xfrm>
              <a:off x="8151962" y="1685652"/>
              <a:ext cx="3275013" cy="4408488"/>
            </a:xfrm>
            <a:custGeom>
              <a:avLst/>
              <a:gdLst/>
              <a:ahLst/>
              <a:cxnLst/>
              <a:rect l="l" t="t" r="r" b="b"/>
              <a:pathLst>
                <a:path w="10000" h="10000">
                  <a:moveTo>
                    <a:pt x="8761" y="0"/>
                  </a:moveTo>
                  <a:lnTo>
                    <a:pt x="10000" y="0"/>
                  </a:lnTo>
                  <a:lnTo>
                    <a:pt x="10000" y="10000"/>
                  </a:lnTo>
                  <a:lnTo>
                    <a:pt x="0" y="10000"/>
                  </a:lnTo>
                  <a:lnTo>
                    <a:pt x="0" y="9126"/>
                  </a:lnTo>
                  <a:lnTo>
                    <a:pt x="8761" y="9127"/>
                  </a:lnTo>
                  <a:lnTo>
                    <a:pt x="8761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</p:sp>
        <p:sp>
          <p:nvSpPr>
            <p:cNvPr id="14" name="Freeform 6"/>
            <p:cNvSpPr/>
            <p:nvPr/>
          </p:nvSpPr>
          <p:spPr bwMode="auto">
            <a:xfrm flipH="1" flipV="1">
              <a:off x="752858" y="744469"/>
              <a:ext cx="3275668" cy="4408488"/>
            </a:xfrm>
            <a:custGeom>
              <a:avLst/>
              <a:gdLst/>
              <a:ahLst/>
              <a:cxnLst/>
              <a:rect l="l" t="t" r="r" b="b"/>
              <a:pathLst>
                <a:path w="10002" h="10000">
                  <a:moveTo>
                    <a:pt x="8763" y="0"/>
                  </a:moveTo>
                  <a:lnTo>
                    <a:pt x="10002" y="0"/>
                  </a:lnTo>
                  <a:lnTo>
                    <a:pt x="10002" y="10000"/>
                  </a:lnTo>
                  <a:lnTo>
                    <a:pt x="2" y="10000"/>
                  </a:lnTo>
                  <a:cubicBezTo>
                    <a:pt x="-2" y="9698"/>
                    <a:pt x="4" y="9427"/>
                    <a:pt x="0" y="9125"/>
                  </a:cubicBezTo>
                  <a:lnTo>
                    <a:pt x="8763" y="9128"/>
                  </a:lnTo>
                  <a:lnTo>
                    <a:pt x="8763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</p:sp>
      </p:grp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dirty="0"/>
              <a:t>9/9/2026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Заголовок раздела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5025" y="1301360"/>
            <a:ext cx="9612971" cy="2852737"/>
          </a:xfrm>
        </p:spPr>
        <p:txBody>
          <a:bodyPr anchor="b">
            <a:normAutofit/>
          </a:bodyPr>
          <a:lstStyle>
            <a:lvl1pPr algn="r">
              <a:defRPr sz="7200" cap="all" baseline="0">
                <a:solidFill>
                  <a:schemeClr val="tx2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65025" y="4216328"/>
            <a:ext cx="9612971" cy="1143324"/>
          </a:xfrm>
        </p:spPr>
        <p:txBody>
          <a:bodyPr/>
          <a:lstStyle>
            <a:lvl1pPr marL="0" indent="0"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tx2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38908" y="6453386"/>
            <a:ext cx="1622409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87DE6118-2437-4B30-8E3C-4D2BE6020583}" type="datetimeFigureOut">
              <a:rPr lang="en-US" dirty="0"/>
              <a:pPr/>
              <a:t>9/9/2026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584312" y="6453386"/>
            <a:ext cx="7023377" cy="404614"/>
          </a:xfrm>
        </p:spPr>
        <p:txBody>
          <a:bodyPr/>
          <a:lstStyle>
            <a:lvl1pPr algn="ctr">
              <a:defRPr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30683" y="6453386"/>
            <a:ext cx="159629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69E57DC2-970A-4B3E-BB1C-7A09969E49DF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7" name="Freeform 6" title="Crop Mark"/>
          <p:cNvSpPr/>
          <p:nvPr/>
        </p:nvSpPr>
        <p:spPr bwMode="auto">
          <a:xfrm>
            <a:off x="8151962" y="1685652"/>
            <a:ext cx="3275013" cy="4408488"/>
          </a:xfrm>
          <a:custGeom>
            <a:avLst/>
            <a:gdLst/>
            <a:ahLst/>
            <a:cxnLst/>
            <a:rect l="0" t="0" r="r" b="b"/>
            <a:pathLst>
              <a:path w="4125" h="5554">
                <a:moveTo>
                  <a:pt x="3614" y="0"/>
                </a:moveTo>
                <a:lnTo>
                  <a:pt x="4125" y="0"/>
                </a:lnTo>
                <a:lnTo>
                  <a:pt x="4125" y="5554"/>
                </a:lnTo>
                <a:lnTo>
                  <a:pt x="0" y="5554"/>
                </a:lnTo>
                <a:lnTo>
                  <a:pt x="0" y="5074"/>
                </a:lnTo>
                <a:lnTo>
                  <a:pt x="3614" y="5074"/>
                </a:lnTo>
                <a:lnTo>
                  <a:pt x="3614" y="0"/>
                </a:lnTo>
                <a:close/>
              </a:path>
            </a:pathLst>
          </a:custGeom>
          <a:solidFill>
            <a:schemeClr val="tx2"/>
          </a:solidFill>
          <a:ln w="0">
            <a:noFill/>
            <a:prstDash val="solid"/>
            <a:round/>
            <a:headEnd/>
            <a:tailEnd/>
          </a:ln>
        </p:spPr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371600" y="2285999"/>
            <a:ext cx="4447786" cy="3581401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525403" y="2285999"/>
            <a:ext cx="4447786" cy="3581401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dirty="0"/>
              <a:t>9/9/2026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148590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1600" y="2340864"/>
            <a:ext cx="4443984" cy="823912"/>
          </a:xfrm>
        </p:spPr>
        <p:txBody>
          <a:bodyPr anchor="b">
            <a:noAutofit/>
          </a:bodyPr>
          <a:lstStyle>
            <a:lvl1pPr marL="0" indent="0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None/>
              <a:defRPr sz="3000" b="0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371600" y="3305207"/>
            <a:ext cx="4443984" cy="2562193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525014" y="2340864"/>
            <a:ext cx="4443984" cy="823912"/>
          </a:xfrm>
        </p:spPr>
        <p:txBody>
          <a:bodyPr anchor="b">
            <a:noAutofit/>
          </a:bodyPr>
          <a:lstStyle>
            <a:lvl1pPr marL="0" indent="0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None/>
              <a:defRPr sz="3000" b="0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525014" y="3305207"/>
            <a:ext cx="4443984" cy="2562193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dirty="0"/>
              <a:t>9/9/2026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dirty="0"/>
              <a:t>9/9/2026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dirty="0"/>
              <a:t>9/9/2026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 title="Background Shape"/>
          <p:cNvSpPr/>
          <p:nvPr/>
        </p:nvSpPr>
        <p:spPr>
          <a:xfrm>
            <a:off x="0" y="376"/>
            <a:ext cx="5303520" cy="685762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3900" y="685800"/>
            <a:ext cx="3855720" cy="2157884"/>
          </a:xfrm>
        </p:spPr>
        <p:txBody>
          <a:bodyPr anchor="t">
            <a:noAutofit/>
          </a:bodyPr>
          <a:lstStyle>
            <a:lvl1pPr>
              <a:lnSpc>
                <a:spcPct val="84000"/>
              </a:lnSpc>
              <a:defRPr sz="4800" baseline="0">
                <a:solidFill>
                  <a:schemeClr val="tx2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56020" y="685801"/>
            <a:ext cx="5212080" cy="5175250"/>
          </a:xfrm>
        </p:spPr>
        <p:txBody>
          <a:bodyPr/>
          <a:lstStyle>
            <a:lvl1pPr>
              <a:defRPr sz="20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23900" y="2856344"/>
            <a:ext cx="3855720" cy="3011056"/>
          </a:xfrm>
        </p:spPr>
        <p:txBody>
          <a:bodyPr/>
          <a:lstStyle>
            <a:lvl1pPr marL="0" indent="0">
              <a:lnSpc>
                <a:spcPct val="113000"/>
              </a:lnSpc>
              <a:spcBef>
                <a:spcPts val="0"/>
              </a:spcBef>
              <a:spcAft>
                <a:spcPts val="1500"/>
              </a:spcAft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23900" y="6453386"/>
            <a:ext cx="120457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87DE6118-2437-4B30-8E3C-4D2BE6020583}" type="datetimeFigureOut">
              <a:rPr lang="en-US" dirty="0"/>
              <a:pPr/>
              <a:t>9/9/2026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205945" y="6453386"/>
            <a:ext cx="2373675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9883140" y="6453386"/>
            <a:ext cx="159629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69E57DC2-970A-4B3E-BB1C-7A09969E49DF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9" name="Rectangle 8" title="Divider Bar"/>
          <p:cNvSpPr/>
          <p:nvPr/>
        </p:nvSpPr>
        <p:spPr>
          <a:xfrm>
            <a:off x="5303520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 title="Background Shape"/>
          <p:cNvSpPr/>
          <p:nvPr/>
        </p:nvSpPr>
        <p:spPr>
          <a:xfrm>
            <a:off x="0" y="376"/>
            <a:ext cx="5303520" cy="685762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3900" y="685800"/>
            <a:ext cx="3855720" cy="2157884"/>
          </a:xfrm>
        </p:spPr>
        <p:txBody>
          <a:bodyPr anchor="t">
            <a:normAutofit/>
          </a:bodyPr>
          <a:lstStyle>
            <a:lvl1pPr>
              <a:lnSpc>
                <a:spcPct val="84000"/>
              </a:lnSpc>
              <a:defRPr sz="4800" baseline="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532120" y="0"/>
            <a:ext cx="6659880" cy="6857999"/>
          </a:xfrm>
        </p:spPr>
        <p:txBody>
          <a:bodyPr anchor="t"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2000"/>
            </a:lvl2pPr>
            <a:lvl3pPr marL="914400" indent="0">
              <a:buNone/>
              <a:defRPr sz="20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23900" y="2855968"/>
            <a:ext cx="3855720" cy="3011432"/>
          </a:xfrm>
        </p:spPr>
        <p:txBody>
          <a:bodyPr/>
          <a:lstStyle>
            <a:lvl1pPr marL="0" indent="0">
              <a:lnSpc>
                <a:spcPct val="113000"/>
              </a:lnSpc>
              <a:spcBef>
                <a:spcPts val="0"/>
              </a:spcBef>
              <a:spcAft>
                <a:spcPts val="1500"/>
              </a:spcAft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23900" y="6453386"/>
            <a:ext cx="120457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87DE6118-2437-4B30-8E3C-4D2BE6020583}" type="datetimeFigureOut">
              <a:rPr lang="en-US" dirty="0"/>
              <a:pPr/>
              <a:t>9/9/2026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205945" y="6453386"/>
            <a:ext cx="2373675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9883140" y="6453386"/>
            <a:ext cx="159629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69E57DC2-970A-4B3E-BB1C-7A09969E49DF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9" name="Rectangle 8" title="Divider Bar"/>
          <p:cNvSpPr/>
          <p:nvPr/>
        </p:nvSpPr>
        <p:spPr>
          <a:xfrm>
            <a:off x="5303520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371600" y="2295525"/>
            <a:ext cx="9601200" cy="3571875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dirty="0"/>
              <a:t>9/9/2026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596561" y="624156"/>
            <a:ext cx="1565766" cy="5243244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371600" y="624156"/>
            <a:ext cx="8179641" cy="5243244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dirty="0"/>
              <a:t>9/9/2026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14859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1600" y="2286000"/>
            <a:ext cx="9601200" cy="35814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390650" y="6453386"/>
            <a:ext cx="1204572" cy="4046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aseline="0">
                <a:solidFill>
                  <a:schemeClr val="tx2"/>
                </a:solidFill>
              </a:defRPr>
            </a:lvl1pPr>
          </a:lstStyle>
          <a:p>
            <a:fld id="{87DE6118-2437-4B30-8E3C-4D2BE6020583}" type="datetimeFigureOut">
              <a:rPr lang="en-US" dirty="0"/>
              <a:pPr/>
              <a:t>9/9/2026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893564" y="6453386"/>
            <a:ext cx="6280830" cy="4046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aseline="0"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472736" y="6453386"/>
            <a:ext cx="1596292" cy="4046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aseline="0">
                <a:solidFill>
                  <a:schemeClr val="tx2"/>
                </a:solidFill>
              </a:defRPr>
            </a:lvl1pPr>
          </a:lstStyle>
          <a:p>
            <a:fld id="{69E57DC2-970A-4B3E-BB1C-7A09969E49DF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9" name="Rectangle 8" title="Side bar"/>
          <p:cNvSpPr/>
          <p:nvPr/>
        </p:nvSpPr>
        <p:spPr>
          <a:xfrm>
            <a:off x="478095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89000"/>
        </a:lnSpc>
        <a:spcBef>
          <a:spcPct val="0"/>
        </a:spcBef>
        <a:buNone/>
        <a:defRPr sz="4400" kern="12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84048" indent="-384048" algn="l" defTabSz="914400" rtl="0" eaLnBrk="1" latinLnBrk="0" hangingPunct="1">
        <a:lnSpc>
          <a:spcPct val="94000"/>
        </a:lnSpc>
        <a:spcBef>
          <a:spcPts val="1000"/>
        </a:spcBef>
        <a:spcAft>
          <a:spcPts val="200"/>
        </a:spcAft>
        <a:buFont typeface="Franklin Gothic Book" panose="020B0503020102020204" pitchFamily="34" charset="0"/>
        <a:buChar char="■"/>
        <a:defRPr sz="2000" kern="1200" baseline="0">
          <a:solidFill>
            <a:schemeClr val="tx2"/>
          </a:solidFill>
          <a:latin typeface="+mn-lt"/>
          <a:ea typeface="+mn-ea"/>
          <a:cs typeface="+mn-cs"/>
        </a:defRPr>
      </a:lvl1pPr>
      <a:lvl2pPr marL="9144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2000" i="1" kern="1200" baseline="0">
          <a:solidFill>
            <a:schemeClr val="tx2"/>
          </a:solidFill>
          <a:latin typeface="+mn-lt"/>
          <a:ea typeface="+mn-ea"/>
          <a:cs typeface="+mn-cs"/>
        </a:defRPr>
      </a:lvl2pPr>
      <a:lvl3pPr marL="13716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800" kern="1200" baseline="0">
          <a:solidFill>
            <a:schemeClr val="tx2"/>
          </a:solidFill>
          <a:latin typeface="+mn-lt"/>
          <a:ea typeface="+mn-ea"/>
          <a:cs typeface="+mn-cs"/>
        </a:defRPr>
      </a:lvl3pPr>
      <a:lvl4pPr marL="18288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800" i="1" kern="1200" baseline="0">
          <a:solidFill>
            <a:schemeClr val="tx2"/>
          </a:solidFill>
          <a:latin typeface="+mn-lt"/>
          <a:ea typeface="+mn-ea"/>
          <a:cs typeface="+mn-cs"/>
        </a:defRPr>
      </a:lvl4pPr>
      <a:lvl5pPr marL="22860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600" kern="1200" baseline="0">
          <a:solidFill>
            <a:schemeClr val="tx2"/>
          </a:solidFill>
          <a:latin typeface="+mn-lt"/>
          <a:ea typeface="+mn-ea"/>
          <a:cs typeface="+mn-cs"/>
        </a:defRPr>
      </a:lvl5pPr>
      <a:lvl6pPr marL="27432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600" i="1" kern="1200" baseline="0">
          <a:solidFill>
            <a:schemeClr val="tx2"/>
          </a:solidFill>
          <a:latin typeface="+mn-lt"/>
          <a:ea typeface="+mn-ea"/>
          <a:cs typeface="+mn-cs"/>
        </a:defRPr>
      </a:lvl6pPr>
      <a:lvl7pPr marL="32004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400" kern="1200" baseline="0">
          <a:solidFill>
            <a:schemeClr val="tx2"/>
          </a:solidFill>
          <a:latin typeface="+mn-lt"/>
          <a:ea typeface="+mn-ea"/>
          <a:cs typeface="+mn-cs"/>
        </a:defRPr>
      </a:lvl7pPr>
      <a:lvl8pPr marL="36576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400" i="1" kern="1200" baseline="0">
          <a:solidFill>
            <a:schemeClr val="tx2"/>
          </a:solidFill>
          <a:latin typeface="+mn-lt"/>
          <a:ea typeface="+mn-ea"/>
          <a:cs typeface="+mn-cs"/>
        </a:defRPr>
      </a:lvl8pPr>
      <a:lvl9pPr marL="41148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400" kern="1200" baseline="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3" orient="horz" pos="1368">
          <p15:clr>
            <a:srgbClr val="F26B43"/>
          </p15:clr>
        </p15:guide>
        <p15:guide id="4" orient="horz" pos="1440">
          <p15:clr>
            <a:srgbClr val="F26B43"/>
          </p15:clr>
        </p15:guide>
        <p15:guide id="6" orient="horz" pos="3696">
          <p15:clr>
            <a:srgbClr val="F26B43"/>
          </p15:clr>
        </p15:guide>
        <p15:guide id="7" orient="horz" pos="432">
          <p15:clr>
            <a:srgbClr val="F26B43"/>
          </p15:clr>
        </p15:guide>
        <p15:guide id="8" orient="horz" pos="1512">
          <p15:clr>
            <a:srgbClr val="F26B43"/>
          </p15:clr>
        </p15:guide>
        <p15:guide id="9" pos="6912">
          <p15:clr>
            <a:srgbClr val="F26B43"/>
          </p15:clr>
        </p15:guide>
        <p15:guide id="10" pos="936">
          <p15:clr>
            <a:srgbClr val="F26B43"/>
          </p15:clr>
        </p15:guide>
        <p15:guide id="11" pos="864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6.jpeg"/><Relationship Id="rId4" Type="http://schemas.openxmlformats.org/officeDocument/2006/relationships/image" Target="../media/image5.jpe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9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B56FD4E-DA53-4CC4-83C8-D3F49800AB9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ru-RU" sz="4800" dirty="0"/>
              <a:t>Разработка внутреннего </a:t>
            </a:r>
            <a:r>
              <a:rPr lang="en-US" sz="4800" dirty="0"/>
              <a:t>HR-</a:t>
            </a:r>
            <a:r>
              <a:rPr lang="ru-RU" sz="4800" dirty="0"/>
              <a:t>портала.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04647A63-B8D2-4DEB-949C-4B7EF4BF435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ru-RU" dirty="0"/>
              <a:t>КРАТКИЙ КУРС КАК НЕ СОЙТИ С УМА</a:t>
            </a:r>
          </a:p>
        </p:txBody>
      </p:sp>
    </p:spTree>
    <p:extLst>
      <p:ext uri="{BB962C8B-B14F-4D97-AF65-F5344CB8AC3E}">
        <p14:creationId xmlns:p14="http://schemas.microsoft.com/office/powerpoint/2010/main" val="288826606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A860129-97C3-4183-A918-74740FAEB7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ЦЕЛЬ КОМАНДЫ - Разработать и запустить внутренний HR-портал</a:t>
            </a:r>
          </a:p>
        </p:txBody>
      </p:sp>
      <p:pic>
        <p:nvPicPr>
          <p:cNvPr id="1026" name="Picture 2" descr="Весы из калькулятора и ложки с монетами и картофелем - обои для рабочего  стола, картинки, фото">
            <a:extLst>
              <a:ext uri="{FF2B5EF4-FFF2-40B4-BE49-F238E27FC236}">
                <a16:creationId xmlns:a16="http://schemas.microsoft.com/office/drawing/2014/main" id="{DBC649C5-E0A3-4257-8BC3-60B064F2169B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71599" y="2286000"/>
            <a:ext cx="9408695" cy="3581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6543687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496824C-7329-4D4D-A0B2-0C637F04AE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 РОЛИ И ЗОНЫ ОТВЕТСТВЕННОСТИ</a:t>
            </a:r>
          </a:p>
        </p:txBody>
      </p:sp>
      <p:graphicFrame>
        <p:nvGraphicFramePr>
          <p:cNvPr id="3" name="Таблица 2">
            <a:extLst>
              <a:ext uri="{FF2B5EF4-FFF2-40B4-BE49-F238E27FC236}">
                <a16:creationId xmlns:a16="http://schemas.microsoft.com/office/drawing/2014/main" id="{576493B7-8717-48EA-8F51-62ADE9048E8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30803375"/>
              </p:ext>
            </p:extLst>
          </p:nvPr>
        </p:nvGraphicFramePr>
        <p:xfrm>
          <a:off x="1371601" y="1508760"/>
          <a:ext cx="9601198" cy="4896227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461052">
                  <a:extLst>
                    <a:ext uri="{9D8B030D-6E8A-4147-A177-3AD203B41FA5}">
                      <a16:colId xmlns:a16="http://schemas.microsoft.com/office/drawing/2014/main" val="2816356822"/>
                    </a:ext>
                  </a:extLst>
                </a:gridCol>
                <a:gridCol w="1779987">
                  <a:extLst>
                    <a:ext uri="{9D8B030D-6E8A-4147-A177-3AD203B41FA5}">
                      <a16:colId xmlns:a16="http://schemas.microsoft.com/office/drawing/2014/main" val="2906718030"/>
                    </a:ext>
                  </a:extLst>
                </a:gridCol>
                <a:gridCol w="4912360">
                  <a:extLst>
                    <a:ext uri="{9D8B030D-6E8A-4147-A177-3AD203B41FA5}">
                      <a16:colId xmlns:a16="http://schemas.microsoft.com/office/drawing/2014/main" val="467217174"/>
                    </a:ext>
                  </a:extLst>
                </a:gridCol>
                <a:gridCol w="1447799">
                  <a:extLst>
                    <a:ext uri="{9D8B030D-6E8A-4147-A177-3AD203B41FA5}">
                      <a16:colId xmlns:a16="http://schemas.microsoft.com/office/drawing/2014/main" val="1430276728"/>
                    </a:ext>
                  </a:extLst>
                </a:gridCol>
              </a:tblGrid>
              <a:tr h="389759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400" dirty="0">
                          <a:effectLst/>
                        </a:rPr>
                        <a:t>Роль</a:t>
                      </a:r>
                      <a:endParaRPr lang="ru-RU" sz="1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126032" marT="78770" marB="7877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400">
                          <a:effectLst/>
                        </a:rPr>
                        <a:t>Имя (Пример)</a:t>
                      </a:r>
                      <a:endParaRPr lang="ru-RU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26032" marR="126032" marT="78770" marB="7877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400">
                          <a:effectLst/>
                        </a:rPr>
                        <a:t>Зона ответственности</a:t>
                      </a:r>
                      <a:endParaRPr lang="ru-RU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26032" marR="126032" marT="78770" marB="7877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400">
                          <a:effectLst/>
                        </a:rPr>
                        <a:t>Ключевая точка контроля</a:t>
                      </a:r>
                      <a:endParaRPr lang="ru-RU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26032" marR="126032" marT="78770" marB="78770" anchor="ctr"/>
                </a:tc>
                <a:extLst>
                  <a:ext uri="{0D108BD9-81ED-4DB2-BD59-A6C34878D82A}">
                    <a16:rowId xmlns:a16="http://schemas.microsoft.com/office/drawing/2014/main" val="2047427708"/>
                  </a:ext>
                </a:extLst>
              </a:tr>
              <a:tr h="776099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400" dirty="0" err="1">
                          <a:effectLst/>
                        </a:rPr>
                        <a:t>Product</a:t>
                      </a:r>
                      <a:r>
                        <a:rPr lang="ru-RU" sz="1400" dirty="0">
                          <a:effectLst/>
                        </a:rPr>
                        <a:t> </a:t>
                      </a:r>
                      <a:r>
                        <a:rPr lang="ru-RU" sz="1400" dirty="0" err="1">
                          <a:effectLst/>
                        </a:rPr>
                        <a:t>Owner</a:t>
                      </a:r>
                      <a:endParaRPr lang="ru-RU" sz="1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126032" marT="78770" marB="7877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400" dirty="0">
                          <a:effectLst/>
                        </a:rPr>
                        <a:t>Анна М.</a:t>
                      </a:r>
                      <a:endParaRPr lang="ru-RU" sz="1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26032" marR="126032" marT="78770" marB="7877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400">
                          <a:effectLst/>
                        </a:rPr>
                        <a:t>Бэклог, приоритеты, приёмка требований бизнеса, связь со стейкхолдерами HR.</a:t>
                      </a:r>
                      <a:endParaRPr lang="ru-RU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26032" marR="126032" marT="78770" marB="7877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400">
                          <a:effectLst/>
                        </a:rPr>
                        <a:t>АННА</a:t>
                      </a:r>
                      <a:endParaRPr lang="ru-RU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26032" marR="0" marT="78770" marB="78770" anchor="ctr"/>
                </a:tc>
                <a:extLst>
                  <a:ext uri="{0D108BD9-81ED-4DB2-BD59-A6C34878D82A}">
                    <a16:rowId xmlns:a16="http://schemas.microsoft.com/office/drawing/2014/main" val="3981912300"/>
                  </a:ext>
                </a:extLst>
              </a:tr>
              <a:tr h="58293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400">
                          <a:effectLst/>
                        </a:rPr>
                        <a:t>Scrum Master</a:t>
                      </a:r>
                      <a:endParaRPr lang="ru-RU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126032" marT="78770" marB="7877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400" dirty="0">
                          <a:effectLst/>
                        </a:rPr>
                        <a:t>Дмитрий К.</a:t>
                      </a:r>
                      <a:endParaRPr lang="ru-RU" sz="1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26032" marR="126032" marT="78770" marB="7877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400" dirty="0" err="1">
                          <a:effectLst/>
                        </a:rPr>
                        <a:t>Фасилитация</a:t>
                      </a:r>
                      <a:r>
                        <a:rPr lang="ru-RU" sz="1400" dirty="0">
                          <a:effectLst/>
                        </a:rPr>
                        <a:t> встреч, защита команды, снятие </a:t>
                      </a:r>
                      <a:r>
                        <a:rPr lang="ru-RU" sz="1400" dirty="0" err="1">
                          <a:effectLst/>
                        </a:rPr>
                        <a:t>блокеров</a:t>
                      </a:r>
                      <a:r>
                        <a:rPr lang="ru-RU" sz="1400" dirty="0">
                          <a:effectLst/>
                        </a:rPr>
                        <a:t>, тайминг.</a:t>
                      </a:r>
                      <a:endParaRPr lang="ru-RU" sz="1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26032" marR="126032" marT="78770" marB="7877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400">
                          <a:effectLst/>
                        </a:rPr>
                        <a:t>ДМИТРИЙ</a:t>
                      </a:r>
                      <a:endParaRPr lang="ru-RU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26032" marR="0" marT="78770" marB="78770" anchor="ctr"/>
                </a:tc>
                <a:extLst>
                  <a:ext uri="{0D108BD9-81ED-4DB2-BD59-A6C34878D82A}">
                    <a16:rowId xmlns:a16="http://schemas.microsoft.com/office/drawing/2014/main" val="3748899559"/>
                  </a:ext>
                </a:extLst>
              </a:tr>
              <a:tr h="58293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400">
                          <a:effectLst/>
                        </a:rPr>
                        <a:t>Backend Lead</a:t>
                      </a:r>
                      <a:endParaRPr lang="ru-RU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126032" marT="78770" marB="7877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400" dirty="0">
                          <a:effectLst/>
                        </a:rPr>
                        <a:t>Олег В.</a:t>
                      </a:r>
                      <a:endParaRPr lang="ru-RU" sz="1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26032" marR="126032" marT="78770" marB="7877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400">
                          <a:effectLst/>
                        </a:rPr>
                        <a:t>Архитектура БД, API, код-ревью бэка, тех. долг, релизы.</a:t>
                      </a:r>
                      <a:endParaRPr lang="ru-RU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26032" marR="126032" marT="78770" marB="7877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400">
                          <a:effectLst/>
                        </a:rPr>
                        <a:t>ОЛЕГ</a:t>
                      </a:r>
                      <a:endParaRPr lang="ru-RU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26032" marR="0" marT="78770" marB="78770" anchor="ctr"/>
                </a:tc>
                <a:extLst>
                  <a:ext uri="{0D108BD9-81ED-4DB2-BD59-A6C34878D82A}">
                    <a16:rowId xmlns:a16="http://schemas.microsoft.com/office/drawing/2014/main" val="4237816432"/>
                  </a:ext>
                </a:extLst>
              </a:tr>
              <a:tr h="58293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400">
                          <a:effectLst/>
                        </a:rPr>
                        <a:t>Backend Dev (2)</a:t>
                      </a:r>
                      <a:endParaRPr lang="ru-RU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126032" marT="78770" marB="7877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400">
                          <a:effectLst/>
                        </a:rPr>
                        <a:t>Казань / МСК</a:t>
                      </a:r>
                      <a:endParaRPr lang="ru-RU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26032" marR="126032" marT="78770" marB="7877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400">
                          <a:effectLst/>
                        </a:rPr>
                        <a:t>Разработка серверной логики, интеграции, юнит-тесты.</a:t>
                      </a:r>
                      <a:endParaRPr lang="ru-RU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26032" marR="126032" marT="78770" marB="7877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400" dirty="0">
                          <a:effectLst/>
                        </a:rPr>
                        <a:t>ОЛЕГ</a:t>
                      </a:r>
                      <a:endParaRPr lang="ru-RU" sz="1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26032" marR="0" marT="78770" marB="78770" anchor="ctr"/>
                </a:tc>
                <a:extLst>
                  <a:ext uri="{0D108BD9-81ED-4DB2-BD59-A6C34878D82A}">
                    <a16:rowId xmlns:a16="http://schemas.microsoft.com/office/drawing/2014/main" val="555434324"/>
                  </a:ext>
                </a:extLst>
              </a:tr>
              <a:tr h="58293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400">
                          <a:effectLst/>
                        </a:rPr>
                        <a:t>Frontend Lead</a:t>
                      </a:r>
                      <a:endParaRPr lang="ru-RU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126032" marT="78770" marB="7877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400">
                          <a:effectLst/>
                        </a:rPr>
                        <a:t>Ирина С.</a:t>
                      </a:r>
                      <a:endParaRPr lang="ru-RU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26032" marR="126032" marT="78770" marB="7877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400">
                          <a:effectLst/>
                        </a:rPr>
                        <a:t>Архитектура клиентской части, UI-Kit, качество верстки.</a:t>
                      </a:r>
                      <a:endParaRPr lang="ru-RU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26032" marR="126032" marT="78770" marB="7877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400">
                          <a:effectLst/>
                        </a:rPr>
                        <a:t>ИРИНА</a:t>
                      </a:r>
                      <a:endParaRPr lang="ru-RU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26032" marR="0" marT="78770" marB="78770" anchor="ctr"/>
                </a:tc>
                <a:extLst>
                  <a:ext uri="{0D108BD9-81ED-4DB2-BD59-A6C34878D82A}">
                    <a16:rowId xmlns:a16="http://schemas.microsoft.com/office/drawing/2014/main" val="1208352990"/>
                  </a:ext>
                </a:extLst>
              </a:tr>
              <a:tr h="58293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400">
                          <a:effectLst/>
                        </a:rPr>
                        <a:t>Frontend Dev</a:t>
                      </a:r>
                      <a:endParaRPr lang="ru-RU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126032" marT="78770" marB="7877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400">
                          <a:effectLst/>
                        </a:rPr>
                        <a:t>Алексей П.</a:t>
                      </a:r>
                      <a:endParaRPr lang="ru-RU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26032" marR="126032" marT="78770" marB="7877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400">
                          <a:effectLst/>
                        </a:rPr>
                        <a:t>Разработка интерфейсов, связь с API, багфиксинг.</a:t>
                      </a:r>
                      <a:endParaRPr lang="ru-RU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26032" marR="126032" marT="78770" marB="7877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400">
                          <a:effectLst/>
                        </a:rPr>
                        <a:t>ИРИНА</a:t>
                      </a:r>
                      <a:endParaRPr lang="ru-RU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26032" marR="0" marT="78770" marB="78770" anchor="ctr"/>
                </a:tc>
                <a:extLst>
                  <a:ext uri="{0D108BD9-81ED-4DB2-BD59-A6C34878D82A}">
                    <a16:rowId xmlns:a16="http://schemas.microsoft.com/office/drawing/2014/main" val="1974740312"/>
                  </a:ext>
                </a:extLst>
              </a:tr>
              <a:tr h="58293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400">
                          <a:effectLst/>
                        </a:rPr>
                        <a:t>QA Engineer</a:t>
                      </a:r>
                      <a:endParaRPr lang="ru-RU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126032" marT="78770" marB="7877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400">
                          <a:effectLst/>
                        </a:rPr>
                        <a:t>Сергей Н.</a:t>
                      </a:r>
                      <a:endParaRPr lang="ru-RU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26032" marR="126032" marT="78770" marB="7877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400">
                          <a:effectLst/>
                        </a:rPr>
                        <a:t>Тест-план, регресс, автотесты (E2E), качество релиза.</a:t>
                      </a:r>
                      <a:endParaRPr lang="ru-RU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26032" marR="126032" marT="78770" marB="7877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400" dirty="0">
                          <a:effectLst/>
                        </a:rPr>
                        <a:t>СЕРГЕЙ</a:t>
                      </a:r>
                      <a:endParaRPr lang="ru-RU" sz="1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26032" marR="0" marT="78770" marB="78770" anchor="ctr"/>
                </a:tc>
                <a:extLst>
                  <a:ext uri="{0D108BD9-81ED-4DB2-BD59-A6C34878D82A}">
                    <a16:rowId xmlns:a16="http://schemas.microsoft.com/office/drawing/2014/main" val="372583662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3408658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Заголовок 2">
            <a:extLst>
              <a:ext uri="{FF2B5EF4-FFF2-40B4-BE49-F238E27FC236}">
                <a16:creationId xmlns:a16="http://schemas.microsoft.com/office/drawing/2014/main" id="{E6D983AB-B042-42CC-9FC1-232F2A460B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/>
              <a:t>ПРАВИЛА КОММУНИКАЦИИ</a:t>
            </a:r>
            <a:br>
              <a:rPr lang="ru-RU" b="1" dirty="0"/>
            </a:br>
            <a:endParaRPr lang="ru-RU" dirty="0"/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825241FF-A400-4220-9355-4BC98A109B0F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ru-RU" b="1" dirty="0"/>
              <a:t>Каналы</a:t>
            </a:r>
            <a:endParaRPr lang="en-US" b="1" dirty="0"/>
          </a:p>
          <a:p>
            <a:r>
              <a:rPr lang="ru-RU" b="1" dirty="0"/>
              <a:t>SLA по времени ответа</a:t>
            </a:r>
            <a:endParaRPr lang="en-US" b="1" dirty="0"/>
          </a:p>
          <a:p>
            <a:r>
              <a:rPr lang="ru-RU" b="1" dirty="0"/>
              <a:t>Правила встреч</a:t>
            </a:r>
            <a:endParaRPr lang="ru-RU" dirty="0"/>
          </a:p>
        </p:txBody>
      </p:sp>
      <p:pic>
        <p:nvPicPr>
          <p:cNvPr id="3076" name="Picture 4" descr="Рукопожатие бизнес изображения — Бесплатная загрузка на Magnific (ранее  Freepik)">
            <a:extLst>
              <a:ext uri="{FF2B5EF4-FFF2-40B4-BE49-F238E27FC236}">
                <a16:creationId xmlns:a16="http://schemas.microsoft.com/office/drawing/2014/main" id="{7DB381F0-BEB4-45E6-8DEF-8813B36D0674}"/>
              </a:ext>
            </a:extLst>
          </p:cNvPr>
          <p:cNvPicPr>
            <a:picLocks noGrp="1" noChangeAspect="1" noChangeArrowheads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26850" y="1975840"/>
            <a:ext cx="5845951" cy="38915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8861757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C4F61E4-8F97-4232-9FCE-B09E545991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 DEFINITION OF DONE (</a:t>
            </a:r>
            <a:r>
              <a:rPr lang="ru-RU" dirty="0" err="1"/>
              <a:t>DoD</a:t>
            </a:r>
            <a:r>
              <a:rPr lang="ru-RU" dirty="0"/>
              <a:t>)</a:t>
            </a:r>
            <a:r>
              <a:rPr lang="en-US" dirty="0"/>
              <a:t> –</a:t>
            </a:r>
            <a:r>
              <a:rPr lang="ru-RU" dirty="0"/>
              <a:t> когда задача считается готовой?</a:t>
            </a:r>
          </a:p>
        </p:txBody>
      </p:sp>
      <p:pic>
        <p:nvPicPr>
          <p:cNvPr id="4098" name="Picture 2" descr="Почему люди чешут затылок, когда о чем-то думают | From-UA">
            <a:extLst>
              <a:ext uri="{FF2B5EF4-FFF2-40B4-BE49-F238E27FC236}">
                <a16:creationId xmlns:a16="http://schemas.microsoft.com/office/drawing/2014/main" id="{47688303-2111-457A-805E-E88A1F1C7DB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00337" y="2171700"/>
            <a:ext cx="6943725" cy="4000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0" name="Picture 4" descr="Скачать картинки Чешет голову, стоковые фото Чешет голову в хорошем  качестве | DepositPhotos">
            <a:extLst>
              <a:ext uri="{FF2B5EF4-FFF2-40B4-BE49-F238E27FC236}">
                <a16:creationId xmlns:a16="http://schemas.microsoft.com/office/drawing/2014/main" id="{6EF89A3B-5C0E-4C43-89B9-36E148AA681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10189" y="3402906"/>
            <a:ext cx="3869531" cy="256678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2" name="Picture 6" descr="Человек чешет голову изображения — Бесплатная загрузка на Magnific (ранее  Freepik)">
            <a:extLst>
              <a:ext uri="{FF2B5EF4-FFF2-40B4-BE49-F238E27FC236}">
                <a16:creationId xmlns:a16="http://schemas.microsoft.com/office/drawing/2014/main" id="{7505ACB9-6565-4FA1-BB56-E625774195D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13945" y="4832990"/>
            <a:ext cx="4240530" cy="28251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4" name="Picture 8" descr="Создать мем &quot;Мужчина, человек чешет затылок, картинка человек чешет голову&quot;  - Картинки - Meme-arsenal.com">
            <a:extLst>
              <a:ext uri="{FF2B5EF4-FFF2-40B4-BE49-F238E27FC236}">
                <a16:creationId xmlns:a16="http://schemas.microsoft.com/office/drawing/2014/main" id="{391AD13A-0A67-432E-BAB4-8EA91C78CDF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52496" y="2343720"/>
            <a:ext cx="3197543" cy="21183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193234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09ED803-A2FD-438A-9D5F-BDEAF61EC1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dirty="0"/>
              <a:t>GROUND RULES)</a:t>
            </a:r>
          </a:p>
        </p:txBody>
      </p:sp>
      <p:sp>
        <p:nvSpPr>
          <p:cNvPr id="7" name="Рисунок 6">
            <a:extLst>
              <a:ext uri="{FF2B5EF4-FFF2-40B4-BE49-F238E27FC236}">
                <a16:creationId xmlns:a16="http://schemas.microsoft.com/office/drawing/2014/main" id="{3319415C-33D2-4ED0-882F-62CCE05B1C51}"/>
              </a:ext>
            </a:extLst>
          </p:cNvPr>
          <p:cNvSpPr>
            <a:spLocks noGrp="1"/>
          </p:cNvSpPr>
          <p:nvPr>
            <p:ph type="pic" idx="1"/>
          </p:nvPr>
        </p:nvSpPr>
        <p:spPr/>
      </p:sp>
      <p:sp>
        <p:nvSpPr>
          <p:cNvPr id="8" name="Текст 7">
            <a:extLst>
              <a:ext uri="{FF2B5EF4-FFF2-40B4-BE49-F238E27FC236}">
                <a16:creationId xmlns:a16="http://schemas.microsoft.com/office/drawing/2014/main" id="{B74AEE06-D724-49B9-9435-28073111D848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r>
              <a:rPr lang="ru-RU" dirty="0"/>
              <a:t>(8 правил поведения</a:t>
            </a:r>
          </a:p>
        </p:txBody>
      </p:sp>
      <p:pic>
        <p:nvPicPr>
          <p:cNvPr id="5122" name="Picture 2" descr="Песня Балди — песня-рефрен при каждом предложении (видео)">
            <a:extLst>
              <a:ext uri="{FF2B5EF4-FFF2-40B4-BE49-F238E27FC236}">
                <a16:creationId xmlns:a16="http://schemas.microsoft.com/office/drawing/2014/main" id="{D892BDEA-029C-42DC-8CF3-8B22115F286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32120" y="0"/>
            <a:ext cx="6659880" cy="88798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9662068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676080D-F995-4AEE-BAC9-65D34D05E4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ПРОЦЕСС ЭСКАЛАЦИИ КОНФЛИКТОВ</a:t>
            </a:r>
          </a:p>
        </p:txBody>
      </p:sp>
      <p:pic>
        <p:nvPicPr>
          <p:cNvPr id="6146" name="Picture 2" descr="Прямо во дворе дома: люди пришли посмотреть на драку - ОТВПрим">
            <a:extLst>
              <a:ext uri="{FF2B5EF4-FFF2-40B4-BE49-F238E27FC236}">
                <a16:creationId xmlns:a16="http://schemas.microsoft.com/office/drawing/2014/main" id="{6FA3BF50-9F46-476A-8845-8016C067251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90800" y="1981200"/>
            <a:ext cx="7162800" cy="4191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4952420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1102DCE-E6BE-4633-BF06-749D3DD26D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РИТУАЛЫ И РАСПИСАНИЕ</a:t>
            </a:r>
          </a:p>
        </p:txBody>
      </p:sp>
      <p:graphicFrame>
        <p:nvGraphicFramePr>
          <p:cNvPr id="3" name="Таблица 2">
            <a:extLst>
              <a:ext uri="{FF2B5EF4-FFF2-40B4-BE49-F238E27FC236}">
                <a16:creationId xmlns:a16="http://schemas.microsoft.com/office/drawing/2014/main" id="{797117DA-65BA-41EE-B26C-F7A28EAD2CE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71902457"/>
              </p:ext>
            </p:extLst>
          </p:nvPr>
        </p:nvGraphicFramePr>
        <p:xfrm>
          <a:off x="1371600" y="1428750"/>
          <a:ext cx="10302239" cy="4717417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222299">
                  <a:extLst>
                    <a:ext uri="{9D8B030D-6E8A-4147-A177-3AD203B41FA5}">
                      <a16:colId xmlns:a16="http://schemas.microsoft.com/office/drawing/2014/main" val="2002860292"/>
                    </a:ext>
                  </a:extLst>
                </a:gridCol>
                <a:gridCol w="2269985">
                  <a:extLst>
                    <a:ext uri="{9D8B030D-6E8A-4147-A177-3AD203B41FA5}">
                      <a16:colId xmlns:a16="http://schemas.microsoft.com/office/drawing/2014/main" val="3281640475"/>
                    </a:ext>
                  </a:extLst>
                </a:gridCol>
                <a:gridCol w="2269985">
                  <a:extLst>
                    <a:ext uri="{9D8B030D-6E8A-4147-A177-3AD203B41FA5}">
                      <a16:colId xmlns:a16="http://schemas.microsoft.com/office/drawing/2014/main" val="390325456"/>
                    </a:ext>
                  </a:extLst>
                </a:gridCol>
                <a:gridCol w="2269985">
                  <a:extLst>
                    <a:ext uri="{9D8B030D-6E8A-4147-A177-3AD203B41FA5}">
                      <a16:colId xmlns:a16="http://schemas.microsoft.com/office/drawing/2014/main" val="990523142"/>
                    </a:ext>
                  </a:extLst>
                </a:gridCol>
                <a:gridCol w="2269985">
                  <a:extLst>
                    <a:ext uri="{9D8B030D-6E8A-4147-A177-3AD203B41FA5}">
                      <a16:colId xmlns:a16="http://schemas.microsoft.com/office/drawing/2014/main" val="1767095143"/>
                    </a:ext>
                  </a:extLst>
                </a:gridCol>
              </a:tblGrid>
              <a:tr h="36195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600">
                          <a:effectLst/>
                        </a:rPr>
                        <a:t>Ритуал</a:t>
                      </a:r>
                      <a:endParaRPr lang="ru-RU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152400" marT="95250" marB="9525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600">
                          <a:effectLst/>
                        </a:rPr>
                        <a:t>Когда</a:t>
                      </a:r>
                      <a:endParaRPr lang="ru-RU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52400" marR="152400" marT="95250" marB="9525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600">
                          <a:effectLst/>
                        </a:rPr>
                        <a:t>Время (МСК)</a:t>
                      </a:r>
                      <a:endParaRPr lang="ru-RU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52400" marR="152400" marT="95250" marB="9525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600">
                          <a:effectLst/>
                        </a:rPr>
                        <a:t>Время (Армения)</a:t>
                      </a:r>
                      <a:endParaRPr lang="ru-RU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52400" marR="152400" marT="95250" marB="9525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600">
                          <a:effectLst/>
                        </a:rPr>
                        <a:t>Формат</a:t>
                      </a:r>
                      <a:endParaRPr lang="ru-RU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52400" marR="152400" marT="95250" marB="95250" anchor="ctr"/>
                </a:tc>
                <a:extLst>
                  <a:ext uri="{0D108BD9-81ED-4DB2-BD59-A6C34878D82A}">
                    <a16:rowId xmlns:a16="http://schemas.microsoft.com/office/drawing/2014/main" val="178878821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600">
                          <a:effectLst/>
                        </a:rPr>
                        <a:t>Daily Standup</a:t>
                      </a:r>
                      <a:endParaRPr lang="ru-RU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152400" marT="95250" marB="9525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600">
                          <a:effectLst/>
                        </a:rPr>
                        <a:t>Каждый день</a:t>
                      </a:r>
                      <a:endParaRPr lang="ru-RU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52400" marR="152400" marT="95250" marB="9525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600" dirty="0">
                          <a:effectLst/>
                        </a:rPr>
                        <a:t>10:00</a:t>
                      </a:r>
                      <a:endParaRPr lang="ru-RU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52400" marR="152400" marT="95250" marB="9525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600">
                          <a:effectLst/>
                        </a:rPr>
                        <a:t>11:00</a:t>
                      </a:r>
                      <a:endParaRPr lang="ru-RU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52400" marR="152400" marT="95250" marB="9525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600">
                          <a:effectLst/>
                        </a:rPr>
                        <a:t>Асинхронно в Slack (бот собирает статусы). 5 минут на чтение.</a:t>
                      </a:r>
                      <a:endParaRPr lang="ru-RU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52400" marR="0" marT="95250" marB="95250" anchor="ctr"/>
                </a:tc>
                <a:extLst>
                  <a:ext uri="{0D108BD9-81ED-4DB2-BD59-A6C34878D82A}">
                    <a16:rowId xmlns:a16="http://schemas.microsoft.com/office/drawing/2014/main" val="1884499542"/>
                  </a:ext>
                </a:extLst>
              </a:tr>
              <a:tr h="541338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600">
                          <a:effectLst/>
                        </a:rPr>
                        <a:t>Sprint Planning</a:t>
                      </a:r>
                      <a:endParaRPr lang="ru-RU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152400" marT="95250" marB="9525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600">
                          <a:effectLst/>
                        </a:rPr>
                        <a:t>Понедельник (старт спринта)</a:t>
                      </a:r>
                      <a:endParaRPr lang="ru-RU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52400" marR="152400" marT="95250" marB="9525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600" dirty="0">
                          <a:effectLst/>
                        </a:rPr>
                        <a:t>11:00</a:t>
                      </a:r>
                      <a:endParaRPr lang="ru-RU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52400" marR="152400" marT="95250" marB="9525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600">
                          <a:effectLst/>
                        </a:rPr>
                        <a:t>12:00</a:t>
                      </a:r>
                      <a:endParaRPr lang="ru-RU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52400" marR="152400" marT="95250" marB="9525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600">
                          <a:effectLst/>
                        </a:rPr>
                        <a:t>Синхронно (Meet). Обсуждаем цели и объем.</a:t>
                      </a:r>
                      <a:endParaRPr lang="ru-RU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52400" marR="0" marT="95250" marB="95250" anchor="ctr"/>
                </a:tc>
                <a:extLst>
                  <a:ext uri="{0D108BD9-81ED-4DB2-BD59-A6C34878D82A}">
                    <a16:rowId xmlns:a16="http://schemas.microsoft.com/office/drawing/2014/main" val="1805858869"/>
                  </a:ext>
                </a:extLst>
              </a:tr>
              <a:tr h="541338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600">
                          <a:effectLst/>
                        </a:rPr>
                        <a:t>Backlog Grooming</a:t>
                      </a:r>
                      <a:endParaRPr lang="ru-RU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152400" marT="95250" marB="9525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600">
                          <a:effectLst/>
                        </a:rPr>
                        <a:t>Среда</a:t>
                      </a:r>
                      <a:endParaRPr lang="ru-RU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52400" marR="152400" marT="95250" marB="9525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600" dirty="0">
                          <a:effectLst/>
                        </a:rPr>
                        <a:t>12:00</a:t>
                      </a:r>
                      <a:endParaRPr lang="ru-RU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52400" marR="152400" marT="95250" marB="9525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600">
                          <a:effectLst/>
                        </a:rPr>
                        <a:t>13:00</a:t>
                      </a:r>
                      <a:endParaRPr lang="ru-RU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52400" marR="152400" marT="95250" marB="9525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600" dirty="0">
                          <a:effectLst/>
                        </a:rPr>
                        <a:t>Уточнение деталей задач с PO.</a:t>
                      </a:r>
                      <a:endParaRPr lang="ru-RU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52400" marR="0" marT="95250" marB="95250" anchor="ctr"/>
                </a:tc>
                <a:extLst>
                  <a:ext uri="{0D108BD9-81ED-4DB2-BD59-A6C34878D82A}">
                    <a16:rowId xmlns:a16="http://schemas.microsoft.com/office/drawing/2014/main" val="2879445162"/>
                  </a:ext>
                </a:extLst>
              </a:tr>
              <a:tr h="541338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600">
                          <a:effectLst/>
                        </a:rPr>
                        <a:t>Sprint Review (Демо)</a:t>
                      </a:r>
                      <a:endParaRPr lang="ru-RU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152400" marT="95250" marB="9525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600">
                          <a:effectLst/>
                        </a:rPr>
                        <a:t>Пятница (конец спринта)</a:t>
                      </a:r>
                      <a:endParaRPr lang="ru-RU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52400" marR="152400" marT="95250" marB="9525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600">
                          <a:effectLst/>
                        </a:rPr>
                        <a:t>14:00</a:t>
                      </a:r>
                      <a:endParaRPr lang="ru-RU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52400" marR="152400" marT="95250" marB="9525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600">
                          <a:effectLst/>
                        </a:rPr>
                        <a:t>15:00</a:t>
                      </a:r>
                      <a:endParaRPr lang="ru-RU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52400" marR="152400" marT="95250" marB="9525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600">
                          <a:effectLst/>
                        </a:rPr>
                        <a:t>Демонстрация результата стейкхолдерам.</a:t>
                      </a:r>
                      <a:endParaRPr lang="ru-RU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52400" marR="0" marT="95250" marB="95250" anchor="ctr"/>
                </a:tc>
                <a:extLst>
                  <a:ext uri="{0D108BD9-81ED-4DB2-BD59-A6C34878D82A}">
                    <a16:rowId xmlns:a16="http://schemas.microsoft.com/office/drawing/2014/main" val="2599082606"/>
                  </a:ext>
                </a:extLst>
              </a:tr>
              <a:tr h="36195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600">
                          <a:effectLst/>
                        </a:rPr>
                        <a:t>Retrospective</a:t>
                      </a:r>
                      <a:endParaRPr lang="ru-RU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152400" marT="95250" marB="9525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600">
                          <a:effectLst/>
                        </a:rPr>
                        <a:t>Пятница (после Демо)</a:t>
                      </a:r>
                      <a:endParaRPr lang="ru-RU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52400" marR="152400" marT="95250" marB="9525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600">
                          <a:effectLst/>
                        </a:rPr>
                        <a:t>15:00</a:t>
                      </a:r>
                      <a:endParaRPr lang="ru-RU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52400" marR="152400" marT="95250" marB="9525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600">
                          <a:effectLst/>
                        </a:rPr>
                        <a:t>16:00</a:t>
                      </a:r>
                      <a:endParaRPr lang="ru-RU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52400" marR="152400" marT="95250" marB="9525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600" dirty="0">
                          <a:effectLst/>
                        </a:rPr>
                        <a:t>Только команда, без заказчика.</a:t>
                      </a:r>
                      <a:endParaRPr lang="ru-RU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52400" marR="0" marT="95250" marB="95250" anchor="ctr"/>
                </a:tc>
                <a:extLst>
                  <a:ext uri="{0D108BD9-81ED-4DB2-BD59-A6C34878D82A}">
                    <a16:rowId xmlns:a16="http://schemas.microsoft.com/office/drawing/2014/main" val="198327483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3191488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Заголовок 2">
            <a:extLst>
              <a:ext uri="{FF2B5EF4-FFF2-40B4-BE49-F238E27FC236}">
                <a16:creationId xmlns:a16="http://schemas.microsoft.com/office/drawing/2014/main" id="{F388B209-F294-4EEE-BE58-4EBAB01B13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СПАСИБО ЧТО СЛУШАЛИ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B5C19894-FFF4-46B4-8393-E7687DB959E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Всё вырубай</a:t>
            </a:r>
          </a:p>
        </p:txBody>
      </p:sp>
    </p:spTree>
    <p:extLst>
      <p:ext uri="{BB962C8B-B14F-4D97-AF65-F5344CB8AC3E}">
        <p14:creationId xmlns:p14="http://schemas.microsoft.com/office/powerpoint/2010/main" val="2984461210"/>
      </p:ext>
    </p:extLst>
  </p:cSld>
  <p:clrMapOvr>
    <a:masterClrMapping/>
  </p:clrMapOvr>
</p:sld>
</file>

<file path=ppt/theme/theme1.xml><?xml version="1.0" encoding="utf-8"?>
<a:theme xmlns:a="http://schemas.openxmlformats.org/drawingml/2006/main" name="Уголки">
  <a:themeElements>
    <a:clrScheme name="Crop">
      <a:dk1>
        <a:sysClr val="windowText" lastClr="000000"/>
      </a:dk1>
      <a:lt1>
        <a:sysClr val="window" lastClr="FFFFFF"/>
      </a:lt1>
      <a:dk2>
        <a:srgbClr val="191B0E"/>
      </a:dk2>
      <a:lt2>
        <a:srgbClr val="EFEDE3"/>
      </a:lt2>
      <a:accent1>
        <a:srgbClr val="8C8D86"/>
      </a:accent1>
      <a:accent2>
        <a:srgbClr val="E6C069"/>
      </a:accent2>
      <a:accent3>
        <a:srgbClr val="897B61"/>
      </a:accent3>
      <a:accent4>
        <a:srgbClr val="8DAB8E"/>
      </a:accent4>
      <a:accent5>
        <a:srgbClr val="77A2BB"/>
      </a:accent5>
      <a:accent6>
        <a:srgbClr val="E28394"/>
      </a:accent6>
      <a:hlink>
        <a:srgbClr val="77A2BB"/>
      </a:hlink>
      <a:folHlink>
        <a:srgbClr val="957A99"/>
      </a:folHlink>
    </a:clrScheme>
    <a:fontScheme name="Crop">
      <a:majorFont>
        <a:latin typeface="Franklin Gothic Book" panose="020B0503020102020204"/>
        <a:ea typeface=""/>
        <a:cs typeface=""/>
        <a:font script="Jpan" typeface="メイリオ"/>
        <a:font script="Hang" typeface="돋움"/>
        <a:font script="Hans" typeface="华文楷体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Franklin Gothic Book" panose="020B0503020102020204"/>
        <a:ea typeface=""/>
        <a:cs typeface=""/>
        <a:font script="Jpan" typeface="メイリオ"/>
        <a:font script="Hang" typeface="돋움"/>
        <a:font script="Hans" typeface="华文楷体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Crop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satMod val="105000"/>
                <a:lumMod val="110000"/>
              </a:schemeClr>
            </a:gs>
            <a:gs pos="50000">
              <a:schemeClr val="phClr">
                <a:tint val="73000"/>
                <a:satMod val="103000"/>
                <a:lumMod val="105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8000"/>
                <a:satMod val="12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in">
          <a:solidFill>
            <a:schemeClr val="phClr"/>
          </a:solidFill>
          <a:prstDash val="solid"/>
        </a:ln>
        <a:ln w="34925" cap="flat" cmpd="sng" algn="in">
          <a:solidFill>
            <a:schemeClr val="phClr"/>
          </a:solidFill>
          <a:prstDash val="solid"/>
        </a:ln>
        <a:ln w="19050" cap="flat" cmpd="sng" algn="in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rop" id="{EC9488ED-E761-4D60-9AC4-764D1FE2C171}" vid="{CE19780C-D67D-4C13-9DE9-A52BC3BA51B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{FACD348F-C0B0-4609-ABAF-5784230D9667}TFc3084226-2d0c-440f-9f46-6b48c7a7f6704bbe0077-9f3b6c2d6720</Template>
  <TotalTime>26</TotalTime>
  <Words>285</Words>
  <Application>Microsoft Office PowerPoint</Application>
  <PresentationFormat>Широкоэкранный</PresentationFormat>
  <Paragraphs>77</Paragraphs>
  <Slides>9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9</vt:i4>
      </vt:variant>
    </vt:vector>
  </HeadingPairs>
  <TitlesOfParts>
    <vt:vector size="13" baseType="lpstr">
      <vt:lpstr>Arial</vt:lpstr>
      <vt:lpstr>Calibri</vt:lpstr>
      <vt:lpstr>Franklin Gothic Book</vt:lpstr>
      <vt:lpstr>Уголки</vt:lpstr>
      <vt:lpstr>Разработка внутреннего HR-портала.</vt:lpstr>
      <vt:lpstr>ЦЕЛЬ КОМАНДЫ - Разработать и запустить внутренний HR-портал</vt:lpstr>
      <vt:lpstr> РОЛИ И ЗОНЫ ОТВЕТСТВЕННОСТИ</vt:lpstr>
      <vt:lpstr>ПРАВИЛА КОММУНИКАЦИИ </vt:lpstr>
      <vt:lpstr> DEFINITION OF DONE (DoD) – когда задача считается готовой?</vt:lpstr>
      <vt:lpstr>GROUND RULES)</vt:lpstr>
      <vt:lpstr>ПРОЦЕСС ЭСКАЛАЦИИ КОНФЛИКТОВ</vt:lpstr>
      <vt:lpstr>РИТУАЛЫ И РАСПИСАНИЕ</vt:lpstr>
      <vt:lpstr>СПАСИБО ЧТО СЛУШАЛИ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SLL</dc:creator>
  <cp:lastModifiedBy>SLL</cp:lastModifiedBy>
  <cp:revision>5</cp:revision>
  <dcterms:created xsi:type="dcterms:W3CDTF">2026-09-09T10:37:27Z</dcterms:created>
  <dcterms:modified xsi:type="dcterms:W3CDTF">2026-09-09T11:04:27Z</dcterms:modified>
</cp:coreProperties>
</file>